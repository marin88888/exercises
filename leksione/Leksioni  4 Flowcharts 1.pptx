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76" r:id="rId5"/>
    <p:sldId id="277" r:id="rId6"/>
    <p:sldId id="275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A9C13-8D1B-4298-85F1-DA460030CA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B1A6763-BB37-4620-8659-184456D395B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5D05E9D-4494-4A7D-AF6B-10938431E2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sz="4400" dirty="0" err="1"/>
              <a:t>Algoritmike</a:t>
            </a:r>
            <a:r>
              <a:rPr lang="en-US" sz="4400" dirty="0"/>
              <a:t> </a:t>
            </a:r>
            <a:r>
              <a:rPr lang="en-US" sz="4400" dirty="0" err="1"/>
              <a:t>dhe</a:t>
            </a:r>
            <a:r>
              <a:rPr lang="en-US" sz="4400" dirty="0"/>
              <a:t> </a:t>
            </a:r>
            <a:r>
              <a:rPr lang="en-US" sz="4400" dirty="0" err="1"/>
              <a:t>programim</a:t>
            </a:r>
            <a:r>
              <a:rPr lang="en-US" sz="4400" dirty="0"/>
              <a:t> </a:t>
            </a:r>
            <a:r>
              <a:rPr lang="en-US" sz="4400" dirty="0" err="1"/>
              <a:t>i</a:t>
            </a:r>
            <a:r>
              <a:rPr lang="en-US" sz="4400" dirty="0"/>
              <a:t> </a:t>
            </a:r>
            <a:r>
              <a:rPr lang="en-US" sz="4400" dirty="0" err="1"/>
              <a:t>avancuar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40386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/>
              <a:t>Leksion</a:t>
            </a:r>
            <a:r>
              <a:rPr lang="en-US" sz="2800" dirty="0"/>
              <a:t>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038600"/>
          </a:xfrm>
        </p:spPr>
        <p:txBody>
          <a:bodyPr/>
          <a:lstStyle/>
          <a:p>
            <a:pPr eaLnBrk="1" hangingPunct="1"/>
            <a:r>
              <a:rPr lang="en-US" sz="2800" dirty="0" err="1"/>
              <a:t>Një</a:t>
            </a:r>
            <a:r>
              <a:rPr lang="en-US" sz="2800" dirty="0"/>
              <a:t> </a:t>
            </a:r>
            <a:r>
              <a:rPr lang="en-US" sz="2800" dirty="0" err="1"/>
              <a:t>detyrë</a:t>
            </a:r>
            <a:r>
              <a:rPr lang="en-US" sz="2800" dirty="0"/>
              <a:t> </a:t>
            </a:r>
            <a:r>
              <a:rPr lang="en-US" sz="2800" dirty="0" err="1"/>
              <a:t>tipike</a:t>
            </a:r>
            <a:r>
              <a:rPr lang="en-US" sz="2800" dirty="0"/>
              <a:t> </a:t>
            </a:r>
            <a:r>
              <a:rPr lang="en-US" sz="2800" dirty="0" err="1"/>
              <a:t>programimi</a:t>
            </a:r>
            <a:r>
              <a:rPr lang="en-US" sz="2800" dirty="0"/>
              <a:t> </a:t>
            </a:r>
            <a:r>
              <a:rPr lang="en-US" sz="2800" dirty="0" err="1"/>
              <a:t>mund</a:t>
            </a:r>
            <a:r>
              <a:rPr lang="en-US" sz="2800" dirty="0"/>
              <a:t> </a:t>
            </a:r>
            <a:r>
              <a:rPr lang="en-US" sz="2800" dirty="0" err="1"/>
              <a:t>të</a:t>
            </a:r>
            <a:r>
              <a:rPr lang="en-US" sz="2800" dirty="0"/>
              <a:t> </a:t>
            </a:r>
            <a:r>
              <a:rPr lang="en-US" sz="2800" dirty="0" err="1"/>
              <a:t>ndahet</a:t>
            </a:r>
            <a:r>
              <a:rPr lang="en-US" sz="2800" dirty="0"/>
              <a:t> </a:t>
            </a:r>
            <a:r>
              <a:rPr lang="en-US" sz="2800" dirty="0" err="1"/>
              <a:t>në</a:t>
            </a:r>
            <a:r>
              <a:rPr lang="en-US" sz="2800" dirty="0"/>
              <a:t> </a:t>
            </a:r>
            <a:r>
              <a:rPr lang="en-US" sz="2800" dirty="0" err="1"/>
              <a:t>dy</a:t>
            </a:r>
            <a:r>
              <a:rPr lang="en-US" sz="2800" dirty="0"/>
              <a:t> </a:t>
            </a:r>
            <a:r>
              <a:rPr lang="en-US" sz="2800" dirty="0" err="1"/>
              <a:t>faza</a:t>
            </a:r>
            <a:r>
              <a:rPr lang="en-US" sz="2800" dirty="0"/>
              <a:t>:</a:t>
            </a:r>
            <a:endParaRPr lang="en-US" sz="2800" b="1" i="1" dirty="0"/>
          </a:p>
          <a:p>
            <a:pPr eaLnBrk="1" hangingPunct="1"/>
            <a:r>
              <a:rPr lang="en-US" sz="2800" b="1" i="1" dirty="0" err="1"/>
              <a:t>Faza</a:t>
            </a:r>
            <a:r>
              <a:rPr lang="en-US" sz="2800" b="1" i="1" dirty="0"/>
              <a:t> e </a:t>
            </a:r>
            <a:r>
              <a:rPr lang="en-US" sz="2800" b="1" i="1" dirty="0" err="1"/>
              <a:t>zgjidhjes</a:t>
            </a:r>
            <a:r>
              <a:rPr lang="en-US" sz="2800" b="1" i="1" dirty="0"/>
              <a:t> </a:t>
            </a:r>
            <a:r>
              <a:rPr lang="en-US" sz="2800" b="1" i="1" dirty="0" err="1"/>
              <a:t>së</a:t>
            </a:r>
            <a:r>
              <a:rPr lang="en-US" sz="2800" b="1" i="1" dirty="0"/>
              <a:t> </a:t>
            </a:r>
            <a:r>
              <a:rPr lang="en-US" sz="2800" b="1" i="1" dirty="0" err="1"/>
              <a:t>problemit</a:t>
            </a:r>
            <a:endParaRPr lang="en-US" sz="2800" dirty="0"/>
          </a:p>
          <a:p>
            <a:pPr lvl="1" eaLnBrk="1" hangingPunct="1"/>
            <a:r>
              <a:rPr lang="en-US" sz="2400" dirty="0" err="1"/>
              <a:t>prodhoni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sekuencë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renditur</a:t>
            </a:r>
            <a:r>
              <a:rPr lang="en-US" sz="2400" dirty="0"/>
              <a:t> </a:t>
            </a:r>
            <a:r>
              <a:rPr lang="en-US" sz="2400" dirty="0" err="1"/>
              <a:t>hapash</a:t>
            </a:r>
            <a:r>
              <a:rPr lang="en-US" sz="2400" dirty="0"/>
              <a:t> </a:t>
            </a:r>
            <a:r>
              <a:rPr lang="en-US" sz="2400" dirty="0" err="1"/>
              <a:t>që</a:t>
            </a:r>
            <a:r>
              <a:rPr lang="en-US" sz="2400" dirty="0"/>
              <a:t> </a:t>
            </a:r>
            <a:r>
              <a:rPr lang="en-US" sz="2400" dirty="0" err="1"/>
              <a:t>përshkruan</a:t>
            </a:r>
            <a:r>
              <a:rPr lang="en-US" sz="2400" dirty="0"/>
              <a:t> </a:t>
            </a:r>
            <a:r>
              <a:rPr lang="en-US" sz="2400" dirty="0" err="1"/>
              <a:t>zgjidhjen</a:t>
            </a:r>
            <a:r>
              <a:rPr lang="en-US" sz="2400" dirty="0"/>
              <a:t> e </a:t>
            </a:r>
            <a:r>
              <a:rPr lang="en-US" sz="2400" dirty="0" err="1"/>
              <a:t>problemit</a:t>
            </a:r>
            <a:endParaRPr lang="en-US" sz="2400" dirty="0"/>
          </a:p>
          <a:p>
            <a:pPr lvl="1" eaLnBrk="1" hangingPunct="1"/>
            <a:r>
              <a:rPr lang="en-US" sz="2400" dirty="0" err="1"/>
              <a:t>Kjo</a:t>
            </a:r>
            <a:r>
              <a:rPr lang="en-US" sz="2400" dirty="0"/>
              <a:t> </a:t>
            </a:r>
            <a:r>
              <a:rPr lang="en-US" sz="2400" dirty="0" err="1"/>
              <a:t>sekuence</a:t>
            </a:r>
            <a:r>
              <a:rPr lang="en-US" sz="2400" dirty="0"/>
              <a:t> </a:t>
            </a:r>
            <a:r>
              <a:rPr lang="en-US" sz="2400" dirty="0" err="1"/>
              <a:t>veprimesh</a:t>
            </a:r>
            <a:r>
              <a:rPr lang="en-US" sz="2400" dirty="0"/>
              <a:t> </a:t>
            </a:r>
            <a:r>
              <a:rPr lang="en-US" sz="2400" dirty="0" err="1"/>
              <a:t>quhet</a:t>
            </a:r>
            <a:r>
              <a:rPr lang="en-US" sz="2400" dirty="0"/>
              <a:t> </a:t>
            </a:r>
            <a:r>
              <a:rPr lang="en-US" sz="2400" dirty="0" err="1"/>
              <a:t>nje</a:t>
            </a:r>
            <a:r>
              <a:rPr lang="en-US" sz="2400" dirty="0"/>
              <a:t> </a:t>
            </a:r>
            <a:r>
              <a:rPr lang="en-US" sz="2400" b="1" i="1" dirty="0" err="1"/>
              <a:t>algoritem</a:t>
            </a:r>
            <a:endParaRPr lang="en-US" sz="2400" dirty="0"/>
          </a:p>
          <a:p>
            <a:pPr eaLnBrk="1" hangingPunct="1"/>
            <a:r>
              <a:rPr lang="en-US" sz="2800" b="1" i="1" dirty="0" err="1"/>
              <a:t>Faza</a:t>
            </a:r>
            <a:r>
              <a:rPr lang="en-US" sz="2800" b="1" i="1" dirty="0"/>
              <a:t> e </a:t>
            </a:r>
            <a:r>
              <a:rPr lang="en-US" sz="2800" b="1" i="1" dirty="0" err="1"/>
              <a:t>implementimit</a:t>
            </a:r>
            <a:r>
              <a:rPr lang="en-US" sz="2800" dirty="0"/>
              <a:t> </a:t>
            </a:r>
          </a:p>
          <a:p>
            <a:pPr lvl="1" eaLnBrk="1" hangingPunct="1"/>
            <a:r>
              <a:rPr lang="en-US" sz="2400" dirty="0" err="1"/>
              <a:t>implementoni</a:t>
            </a:r>
            <a:r>
              <a:rPr lang="en-US" sz="2400" dirty="0"/>
              <a:t> </a:t>
            </a:r>
            <a:r>
              <a:rPr lang="en-US" sz="2400" dirty="0" err="1"/>
              <a:t>programin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ndonjë</a:t>
            </a:r>
            <a:r>
              <a:rPr lang="en-US" sz="2400" dirty="0"/>
              <a:t> </a:t>
            </a:r>
            <a:r>
              <a:rPr lang="en-US" sz="2400" dirty="0" err="1"/>
              <a:t>gjuhë</a:t>
            </a:r>
            <a:r>
              <a:rPr lang="en-US" sz="2400" dirty="0"/>
              <a:t> </a:t>
            </a:r>
            <a:r>
              <a:rPr lang="en-US" sz="2400" dirty="0" err="1"/>
              <a:t>programimi</a:t>
            </a:r>
            <a:endParaRPr lang="en-US" sz="240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sz="3600"/>
              <a:t>ALGORITMET DHE DIAGRAMET RRJEDHËSE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Një gamë e mirë-renditur e. . .</a:t>
            </a:r>
          </a:p>
          <a:p>
            <a:r>
              <a:rPr lang="en-US" dirty="0"/>
              <a:t> veprimeve të mirë-përcaktuara (jo të paqarta) . . .</a:t>
            </a:r>
          </a:p>
          <a:p>
            <a:r>
              <a:rPr lang="en-US" dirty="0"/>
              <a:t> që mund të llogariten me saktësi</a:t>
            </a:r>
            <a:br>
              <a:rPr lang="en-US" dirty="0"/>
            </a:br>
            <a:r>
              <a:rPr lang="en-US" dirty="0"/>
              <a:t>. . .</a:t>
            </a:r>
            <a:br>
              <a:rPr lang="en-US" dirty="0"/>
            </a:br>
            <a:endParaRPr lang="en-US" dirty="0"/>
          </a:p>
          <a:p>
            <a:r>
              <a:rPr lang="en-US" dirty="0"/>
              <a:t>që prodhon një rezultat. . 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dhe ndalon në një kohë të fundme.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Përkufizimi i Algoritmit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Shembull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sz="2600" dirty="0"/>
              <a:t>“</a:t>
            </a:r>
            <a:r>
              <a:rPr lang="en-US" sz="2600" dirty="0" err="1"/>
              <a:t>Fillimisht</a:t>
            </a:r>
            <a:r>
              <a:rPr lang="en-US" sz="2600" dirty="0"/>
              <a:t>, </a:t>
            </a:r>
            <a:r>
              <a:rPr lang="tr-TR" sz="2600" dirty="0"/>
              <a:t>jep</a:t>
            </a:r>
            <a:r>
              <a:rPr lang="en-US" sz="2600" dirty="0" err="1"/>
              <a:t>i</a:t>
            </a:r>
            <a:r>
              <a:rPr lang="tr-TR" sz="2600" dirty="0"/>
              <a:t>ni variablit</a:t>
            </a:r>
            <a:r>
              <a:rPr lang="en-US" sz="2600" dirty="0"/>
              <a:t> </a:t>
            </a:r>
            <a:r>
              <a:rPr lang="en-US" sz="2600" i="1" dirty="0"/>
              <a:t>m</a:t>
            </a:r>
            <a:r>
              <a:rPr lang="en-US" sz="2600" dirty="0"/>
              <a:t> </a:t>
            </a:r>
            <a:r>
              <a:rPr lang="en-US" sz="2600" dirty="0" err="1"/>
              <a:t>vleren</a:t>
            </a:r>
            <a:r>
              <a:rPr lang="en-US" sz="2600" dirty="0"/>
              <a:t> 0 </a:t>
            </a:r>
            <a:r>
              <a:rPr lang="en-US" sz="2600" dirty="0" err="1"/>
              <a:t>dhe</a:t>
            </a:r>
            <a:r>
              <a:rPr lang="en-US" sz="2600" dirty="0"/>
              <a:t> </a:t>
            </a:r>
            <a:r>
              <a:rPr lang="en-US" sz="2600" dirty="0" err="1"/>
              <a:t>variablit</a:t>
            </a:r>
            <a:r>
              <a:rPr lang="en-US" sz="2600" dirty="0"/>
              <a:t> </a:t>
            </a:r>
            <a:r>
              <a:rPr lang="tr-TR" sz="2600" i="1" dirty="0"/>
              <a:t>i</a:t>
            </a:r>
            <a:r>
              <a:rPr lang="en-US" sz="2600" dirty="0"/>
              <a:t> </a:t>
            </a:r>
            <a:r>
              <a:rPr lang="en-US" sz="2600" dirty="0" err="1"/>
              <a:t>vleren</a:t>
            </a:r>
            <a:r>
              <a:rPr lang="en-US" sz="2600" dirty="0"/>
              <a:t> 0. Me pas, </a:t>
            </a:r>
            <a:r>
              <a:rPr lang="en-US" sz="2600" dirty="0" err="1"/>
              <a:t>filloni</a:t>
            </a:r>
            <a:r>
              <a:rPr lang="en-US" sz="2600" dirty="0"/>
              <a:t> </a:t>
            </a:r>
            <a:r>
              <a:rPr lang="en-US" sz="2600" dirty="0" err="1"/>
              <a:t>ciklin</a:t>
            </a:r>
            <a:r>
              <a:rPr lang="en-US" sz="2600" dirty="0"/>
              <a:t> </a:t>
            </a:r>
            <a:r>
              <a:rPr lang="en-US" sz="2600" dirty="0" err="1"/>
              <a:t>derisa</a:t>
            </a:r>
            <a:r>
              <a:rPr lang="en-US" sz="2600" dirty="0"/>
              <a:t> </a:t>
            </a:r>
            <a:r>
              <a:rPr lang="tr-TR" sz="2600" i="1" dirty="0"/>
              <a:t>i</a:t>
            </a:r>
            <a:r>
              <a:rPr lang="en-US" sz="2600" dirty="0"/>
              <a:t> </a:t>
            </a:r>
            <a:r>
              <a:rPr lang="en-US" sz="2600" dirty="0" err="1"/>
              <a:t>te</a:t>
            </a:r>
            <a:r>
              <a:rPr lang="en-US" sz="2600" dirty="0"/>
              <a:t> </a:t>
            </a:r>
            <a:r>
              <a:rPr lang="en-US" sz="2600" dirty="0" err="1"/>
              <a:t>jete</a:t>
            </a:r>
            <a:r>
              <a:rPr lang="en-US" sz="2600" dirty="0"/>
              <a:t> me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madh</a:t>
            </a:r>
            <a:r>
              <a:rPr lang="en-US" sz="2600" dirty="0"/>
              <a:t> se </a:t>
            </a:r>
            <a:r>
              <a:rPr lang="en-US" sz="2600" i="1" dirty="0"/>
              <a:t>m-1</a:t>
            </a:r>
            <a:r>
              <a:rPr lang="en-US" sz="2600" dirty="0"/>
              <a:t>. Ne </a:t>
            </a:r>
            <a:r>
              <a:rPr lang="en-US" sz="2600" dirty="0" err="1"/>
              <a:t>cikel</a:t>
            </a:r>
            <a:r>
              <a:rPr lang="en-US" sz="2600" dirty="0"/>
              <a:t>, </a:t>
            </a:r>
            <a:r>
              <a:rPr lang="en-US" sz="2600" dirty="0" err="1"/>
              <a:t>mbidhni</a:t>
            </a:r>
            <a:r>
              <a:rPr lang="en-US" sz="2600" dirty="0"/>
              <a:t> </a:t>
            </a:r>
            <a:r>
              <a:rPr lang="en-US" sz="2600" dirty="0" err="1"/>
              <a:t>vlerat</a:t>
            </a:r>
            <a:r>
              <a:rPr lang="en-US" sz="2600" dirty="0"/>
              <a:t> e </a:t>
            </a:r>
            <a:r>
              <a:rPr lang="en-US" sz="2600" dirty="0" err="1"/>
              <a:t>dy</a:t>
            </a:r>
            <a:r>
              <a:rPr lang="en-US" sz="2600" dirty="0"/>
              <a:t> </a:t>
            </a:r>
            <a:r>
              <a:rPr lang="tr-TR" sz="2600" dirty="0"/>
              <a:t>vektoreve</a:t>
            </a:r>
            <a:r>
              <a:rPr lang="en-US" sz="2600" dirty="0"/>
              <a:t> </a:t>
            </a:r>
            <a:r>
              <a:rPr lang="en-US" sz="2600" i="1" dirty="0"/>
              <a:t>a</a:t>
            </a:r>
            <a:r>
              <a:rPr lang="en-US" sz="2600" dirty="0"/>
              <a:t> </a:t>
            </a:r>
            <a:r>
              <a:rPr lang="en-US" sz="2600" dirty="0" err="1"/>
              <a:t>dhe</a:t>
            </a:r>
            <a:r>
              <a:rPr lang="en-US" sz="2600" dirty="0"/>
              <a:t> </a:t>
            </a:r>
            <a:r>
              <a:rPr lang="en-US" sz="2600" i="1" dirty="0"/>
              <a:t>b</a:t>
            </a:r>
            <a:r>
              <a:rPr lang="en-US" sz="2600" dirty="0"/>
              <a:t> … “</a:t>
            </a:r>
          </a:p>
          <a:p>
            <a:pPr lvl="1"/>
            <a:r>
              <a:rPr lang="en-US" dirty="0"/>
              <a:t>Pro</a:t>
            </a:r>
          </a:p>
          <a:p>
            <a:pPr lvl="2">
              <a:buFont typeface="Times New Roman" pitchFamily="18" charset="0"/>
              <a:buChar char="+"/>
            </a:pPr>
            <a:r>
              <a:rPr lang="en-US" dirty="0" err="1"/>
              <a:t>Familjar</a:t>
            </a:r>
            <a:r>
              <a:rPr lang="en-US" dirty="0"/>
              <a:t>	</a:t>
            </a:r>
          </a:p>
          <a:p>
            <a:pPr lvl="1"/>
            <a:r>
              <a:rPr lang="en-US" dirty="0" err="1"/>
              <a:t>Kundër</a:t>
            </a:r>
            <a:endParaRPr lang="en-US" dirty="0"/>
          </a:p>
          <a:p>
            <a:pPr lvl="2"/>
            <a:r>
              <a:rPr lang="en-US" dirty="0" err="1"/>
              <a:t>Paraqitje</a:t>
            </a:r>
            <a:r>
              <a:rPr lang="en-US" dirty="0"/>
              <a:t> </a:t>
            </a:r>
            <a:r>
              <a:rPr lang="en-US" dirty="0" err="1"/>
              <a:t>verbale</a:t>
            </a:r>
            <a:endParaRPr lang="en-US" dirty="0"/>
          </a:p>
          <a:p>
            <a:pPr lvl="2"/>
            <a:r>
              <a:rPr lang="en-US" dirty="0"/>
              <a:t>I </a:t>
            </a:r>
            <a:r>
              <a:rPr lang="en-US" dirty="0" err="1"/>
              <a:t>pasaktë</a:t>
            </a:r>
            <a:r>
              <a:rPr lang="en-US" dirty="0"/>
              <a:t>,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ketë</a:t>
            </a:r>
            <a:r>
              <a:rPr lang="en-US" dirty="0"/>
              <a:t> </a:t>
            </a:r>
            <a:r>
              <a:rPr lang="en-US" dirty="0" err="1"/>
              <a:t>interpretime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Gjuhë</a:t>
            </a:r>
            <a:r>
              <a:rPr lang="en-US" sz="4400" dirty="0"/>
              <a:t> </a:t>
            </a:r>
            <a:r>
              <a:rPr lang="en-US" sz="4400" dirty="0" err="1"/>
              <a:t>Natyrale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 err="1"/>
              <a:t>Shembull</a:t>
            </a:r>
            <a:endParaRPr lang="en-US" sz="2800" dirty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</a:rPr>
              <a:t>{ int </a:t>
            </a:r>
            <a:r>
              <a:rPr lang="en-US" sz="2400" dirty="0" err="1">
                <a:latin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</a:rPr>
              <a:t>, m, carry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int [] a = new int[100];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int [] b = new int[100];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int [] c = new int[100];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m = </a:t>
            </a:r>
            <a:r>
              <a:rPr lang="en-US" sz="2400" dirty="0" err="1">
                <a:latin typeface="Courier New" pitchFamily="49" charset="0"/>
              </a:rPr>
              <a:t>Consolte.readInt</a:t>
            </a:r>
            <a:r>
              <a:rPr lang="en-US" sz="2400" dirty="0">
                <a:latin typeface="Courier New" pitchFamily="49" charset="0"/>
              </a:rPr>
              <a:t>();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for (int j = 0; j &lt;= m-1; j++) {</a:t>
            </a:r>
            <a:br>
              <a:rPr lang="en-US" sz="2400" dirty="0">
                <a:latin typeface="Courier New" pitchFamily="49" charset="0"/>
              </a:rPr>
            </a:br>
            <a:r>
              <a:rPr lang="en-US" sz="2400" dirty="0">
                <a:latin typeface="Courier New" pitchFamily="49" charset="0"/>
              </a:rPr>
              <a:t>  … }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Pro</a:t>
            </a:r>
          </a:p>
          <a:p>
            <a:pPr lvl="2">
              <a:lnSpc>
                <a:spcPct val="80000"/>
              </a:lnSpc>
              <a:buFont typeface="Times New Roman" pitchFamily="18" charset="0"/>
              <a:buChar char="+"/>
            </a:pPr>
            <a:r>
              <a:rPr lang="en-US" sz="2000" dirty="0" err="1"/>
              <a:t>Preçiz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mirë-përcaktuar</a:t>
            </a:r>
            <a:r>
              <a:rPr lang="en-US" sz="2000" dirty="0"/>
              <a:t> </a:t>
            </a:r>
          </a:p>
          <a:p>
            <a:pPr lvl="2">
              <a:lnSpc>
                <a:spcPct val="80000"/>
              </a:lnSpc>
              <a:buFont typeface="Times New Roman" pitchFamily="18" charset="0"/>
              <a:buChar char="+"/>
            </a:pPr>
            <a:r>
              <a:rPr lang="en-US" sz="2000" dirty="0"/>
              <a:t>Ne fund do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progamohet</a:t>
            </a:r>
            <a:r>
              <a:rPr lang="en-US" sz="2000" dirty="0"/>
              <a:t> ne </a:t>
            </a:r>
            <a:r>
              <a:rPr lang="en-US" sz="2000" dirty="0" err="1"/>
              <a:t>keto</a:t>
            </a:r>
            <a:r>
              <a:rPr lang="en-US" sz="2000" dirty="0"/>
              <a:t> </a:t>
            </a:r>
            <a:r>
              <a:rPr lang="en-US" sz="2000" dirty="0" err="1"/>
              <a:t>gjuhe</a:t>
            </a:r>
            <a:r>
              <a:rPr lang="en-US" sz="2000" dirty="0"/>
              <a:t> </a:t>
            </a:r>
            <a:r>
              <a:rPr lang="en-US" sz="2000" dirty="0" err="1"/>
              <a:t>programimi</a:t>
            </a:r>
            <a:r>
              <a:rPr lang="en-US" sz="20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2400" dirty="0" err="1"/>
              <a:t>Kundër</a:t>
            </a:r>
            <a:endParaRPr lang="en-US" sz="2400" dirty="0"/>
          </a:p>
          <a:p>
            <a:pPr lvl="2">
              <a:lnSpc>
                <a:spcPct val="80000"/>
              </a:lnSpc>
            </a:pP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jetë</a:t>
            </a:r>
            <a:r>
              <a:rPr lang="en-US" sz="2000" dirty="0"/>
              <a:t> </a:t>
            </a:r>
            <a:r>
              <a:rPr lang="en-US" sz="2000" dirty="0" err="1"/>
              <a:t>nivel</a:t>
            </a:r>
            <a:r>
              <a:rPr lang="en-US" sz="2000" dirty="0"/>
              <a:t> </a:t>
            </a:r>
            <a:r>
              <a:rPr lang="en-US" sz="2000" dirty="0" err="1"/>
              <a:t>tepër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ulet</a:t>
            </a:r>
            <a:r>
              <a:rPr lang="en-US" sz="2000" dirty="0"/>
              <a:t> (</a:t>
            </a:r>
            <a:r>
              <a:rPr lang="en-US" sz="2000" dirty="0" err="1"/>
              <a:t>shumë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detajuar</a:t>
            </a:r>
            <a:r>
              <a:rPr lang="en-US" sz="2000" dirty="0"/>
              <a:t>)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dizenjim</a:t>
            </a:r>
            <a:r>
              <a:rPr lang="en-US" sz="2000" dirty="0"/>
              <a:t> </a:t>
            </a:r>
            <a:r>
              <a:rPr lang="en-US" sz="2000" dirty="0" err="1"/>
              <a:t>algoritmesh</a:t>
            </a:r>
            <a:r>
              <a:rPr lang="en-US" sz="2000" dirty="0"/>
              <a:t> </a:t>
            </a:r>
          </a:p>
          <a:p>
            <a:pPr lvl="2">
              <a:lnSpc>
                <a:spcPct val="80000"/>
              </a:lnSpc>
            </a:pPr>
            <a:r>
              <a:rPr lang="en-US" sz="2000" dirty="0" err="1"/>
              <a:t>Detajet</a:t>
            </a:r>
            <a:r>
              <a:rPr lang="en-US" sz="2000" dirty="0"/>
              <a:t> e </a:t>
            </a:r>
            <a:r>
              <a:rPr lang="en-US" sz="2000" dirty="0" err="1"/>
              <a:t>sintakses</a:t>
            </a:r>
            <a:r>
              <a:rPr lang="en-US" sz="2000" dirty="0"/>
              <a:t> </a:t>
            </a:r>
            <a:r>
              <a:rPr lang="en-US" sz="2000" dirty="0" err="1"/>
              <a:t>janë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lodhshme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/>
              <a:t>Gjuhë</a:t>
            </a:r>
            <a:r>
              <a:rPr lang="en-US" sz="4400" dirty="0"/>
              <a:t> </a:t>
            </a:r>
            <a:r>
              <a:rPr lang="en-US" sz="4400" dirty="0" err="1"/>
              <a:t>Formale</a:t>
            </a:r>
            <a:r>
              <a:rPr lang="en-US" sz="4400" dirty="0"/>
              <a:t> </a:t>
            </a:r>
            <a:r>
              <a:rPr lang="en-US" sz="4400" dirty="0" err="1"/>
              <a:t>Programimi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76707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Shembull</a:t>
            </a:r>
            <a:endParaRPr lang="en-US" sz="2800" dirty="0"/>
          </a:p>
          <a:p>
            <a:pPr lvl="2">
              <a:buFont typeface="Times New Roman" pitchFamily="18" charset="0"/>
              <a:buNone/>
            </a:pPr>
            <a:r>
              <a:rPr lang="en-US" sz="2000" dirty="0" err="1"/>
              <a:t>Hapi</a:t>
            </a:r>
            <a:r>
              <a:rPr lang="en-US" sz="2000" dirty="0"/>
              <a:t> 1: </a:t>
            </a:r>
            <a:r>
              <a:rPr lang="en-US" sz="2000" dirty="0" err="1"/>
              <a:t>vendos</a:t>
            </a:r>
            <a:r>
              <a:rPr lang="en-US" sz="2000" dirty="0"/>
              <a:t> </a:t>
            </a:r>
            <a:r>
              <a:rPr lang="en-US" sz="2000" dirty="0" err="1"/>
              <a:t>vleren</a:t>
            </a:r>
            <a:r>
              <a:rPr lang="en-US" sz="2000" dirty="0"/>
              <a:t> e </a:t>
            </a:r>
            <a:r>
              <a:rPr lang="en-US" sz="2000" i="1" dirty="0"/>
              <a:t>carry</a:t>
            </a:r>
            <a:r>
              <a:rPr lang="en-US" sz="2000" dirty="0"/>
              <a:t>  ne 0</a:t>
            </a:r>
          </a:p>
          <a:p>
            <a:pPr lvl="2">
              <a:buFont typeface="Times New Roman" pitchFamily="18" charset="0"/>
              <a:buNone/>
            </a:pPr>
            <a:r>
              <a:rPr lang="en-US" sz="2000" dirty="0" err="1"/>
              <a:t>Hapi</a:t>
            </a:r>
            <a:r>
              <a:rPr lang="en-US" sz="2000" dirty="0"/>
              <a:t> 2: </a:t>
            </a:r>
            <a:r>
              <a:rPr lang="en-US" sz="2000" dirty="0" err="1"/>
              <a:t>vendos</a:t>
            </a:r>
            <a:r>
              <a:rPr lang="en-US" sz="2000" dirty="0"/>
              <a:t> </a:t>
            </a:r>
            <a:r>
              <a:rPr lang="en-US" sz="2000" dirty="0" err="1"/>
              <a:t>vleren</a:t>
            </a:r>
            <a:r>
              <a:rPr lang="en-US" sz="2000" dirty="0"/>
              <a:t> e </a:t>
            </a:r>
            <a:r>
              <a:rPr lang="en-US" sz="2000" i="1" dirty="0" err="1"/>
              <a:t>i</a:t>
            </a:r>
            <a:r>
              <a:rPr lang="en-US" sz="2000" dirty="0"/>
              <a:t>  ne 0</a:t>
            </a:r>
          </a:p>
          <a:p>
            <a:pPr lvl="2">
              <a:buFont typeface="Times New Roman" pitchFamily="18" charset="0"/>
              <a:buNone/>
            </a:pPr>
            <a:r>
              <a:rPr lang="en-US" sz="2000" dirty="0" err="1"/>
              <a:t>Hapi</a:t>
            </a:r>
            <a:r>
              <a:rPr lang="en-US" sz="2000" dirty="0"/>
              <a:t> 3: </a:t>
            </a:r>
            <a:r>
              <a:rPr lang="en-US" sz="2000" dirty="0" err="1"/>
              <a:t>merr</a:t>
            </a:r>
            <a:r>
              <a:rPr lang="en-US" sz="2000" dirty="0"/>
              <a:t> </a:t>
            </a:r>
            <a:r>
              <a:rPr lang="en-US" sz="2000" dirty="0" err="1"/>
              <a:t>vlerat</a:t>
            </a:r>
            <a:r>
              <a:rPr lang="en-US" sz="2000" dirty="0"/>
              <a:t> e </a:t>
            </a:r>
            <a:r>
              <a:rPr lang="tr-TR" sz="2000" dirty="0"/>
              <a:t>vektoreve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i="1" dirty="0"/>
              <a:t>b</a:t>
            </a:r>
            <a:r>
              <a:rPr lang="en-US" sz="2000" dirty="0"/>
              <a:t> 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gjatesine</a:t>
            </a:r>
            <a:r>
              <a:rPr lang="en-US" sz="2000" dirty="0"/>
              <a:t> e </a:t>
            </a:r>
            <a:r>
              <a:rPr lang="en-US" sz="2000" dirty="0" err="1"/>
              <a:t>tyre</a:t>
            </a:r>
            <a:r>
              <a:rPr lang="en-US" sz="2000" dirty="0"/>
              <a:t> </a:t>
            </a:r>
            <a:r>
              <a:rPr lang="en-US" sz="2000" i="1" dirty="0"/>
              <a:t>m</a:t>
            </a:r>
            <a:r>
              <a:rPr lang="en-US" sz="2000" dirty="0"/>
              <a:t> </a:t>
            </a:r>
          </a:p>
          <a:p>
            <a:pPr lvl="2">
              <a:buFont typeface="Times New Roman" pitchFamily="18" charset="0"/>
              <a:buNone/>
            </a:pPr>
            <a:r>
              <a:rPr lang="en-US" sz="2000" dirty="0" err="1"/>
              <a:t>Hapi</a:t>
            </a:r>
            <a:r>
              <a:rPr lang="en-US" sz="2000" dirty="0"/>
              <a:t> 4: </a:t>
            </a:r>
            <a:r>
              <a:rPr lang="en-US" sz="2000" dirty="0" err="1"/>
              <a:t>perserit</a:t>
            </a:r>
            <a:r>
              <a:rPr lang="en-US" sz="2000" dirty="0"/>
              <a:t> </a:t>
            </a:r>
            <a:r>
              <a:rPr lang="en-US" sz="2000" dirty="0" err="1"/>
              <a:t>hapat</a:t>
            </a:r>
            <a:r>
              <a:rPr lang="en-US" sz="2000" dirty="0"/>
              <a:t> 5 </a:t>
            </a:r>
            <a:r>
              <a:rPr lang="en-US" sz="2000" dirty="0" err="1"/>
              <a:t>dhe</a:t>
            </a:r>
            <a:r>
              <a:rPr lang="en-US" sz="2000" dirty="0"/>
              <a:t> 6 </a:t>
            </a:r>
            <a:r>
              <a:rPr lang="en-US" sz="2000" dirty="0" err="1"/>
              <a:t>derisa</a:t>
            </a:r>
            <a:r>
              <a:rPr lang="en-US" sz="2000" dirty="0"/>
              <a:t> </a:t>
            </a:r>
            <a:r>
              <a:rPr lang="en-US" sz="2000" i="1" dirty="0" err="1"/>
              <a:t>i</a:t>
            </a:r>
            <a:r>
              <a:rPr lang="en-US" sz="2000" i="1" dirty="0"/>
              <a:t> &gt;= m-1</a:t>
            </a:r>
            <a:r>
              <a:rPr lang="en-US" sz="2000" dirty="0"/>
              <a:t> </a:t>
            </a:r>
          </a:p>
          <a:p>
            <a:pPr lvl="2">
              <a:buFont typeface="Times New Roman" pitchFamily="18" charset="0"/>
              <a:buNone/>
            </a:pPr>
            <a:r>
              <a:rPr lang="en-US" sz="2000" dirty="0"/>
              <a:t>…</a:t>
            </a:r>
          </a:p>
          <a:p>
            <a:pPr lvl="1"/>
            <a:r>
              <a:rPr lang="en-US" sz="2400" dirty="0"/>
              <a:t>Pro</a:t>
            </a:r>
          </a:p>
          <a:p>
            <a:pPr lvl="2"/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kompromis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mesëm</a:t>
            </a:r>
            <a:r>
              <a:rPr lang="en-US" sz="2000" dirty="0"/>
              <a:t> </a:t>
            </a:r>
          </a:p>
          <a:p>
            <a:pPr lvl="2"/>
            <a:r>
              <a:rPr lang="en-US" sz="2000" dirty="0" err="1"/>
              <a:t>Ngjan</a:t>
            </a:r>
            <a:r>
              <a:rPr lang="en-US" sz="2000" dirty="0"/>
              <a:t> me </a:t>
            </a:r>
            <a:r>
              <a:rPr lang="en-US" sz="2000" dirty="0" err="1"/>
              <a:t>disa</a:t>
            </a:r>
            <a:r>
              <a:rPr lang="en-US" sz="2000" dirty="0"/>
              <a:t> </a:t>
            </a:r>
            <a:r>
              <a:rPr lang="en-US" sz="2000" dirty="0" err="1"/>
              <a:t>gjuhë</a:t>
            </a:r>
            <a:r>
              <a:rPr lang="en-US" sz="2000" dirty="0"/>
              <a:t> </a:t>
            </a:r>
            <a:r>
              <a:rPr lang="en-US" sz="2000" dirty="0" err="1"/>
              <a:t>programimi</a:t>
            </a:r>
            <a:r>
              <a:rPr lang="en-US" sz="2000" dirty="0"/>
              <a:t> </a:t>
            </a:r>
            <a:r>
              <a:rPr lang="en-US" sz="2000" dirty="0" err="1"/>
              <a:t>popullore</a:t>
            </a:r>
            <a:r>
              <a:rPr lang="en-US" sz="2000" dirty="0"/>
              <a:t> </a:t>
            </a:r>
          </a:p>
          <a:p>
            <a:pPr lvl="2"/>
            <a:r>
              <a:rPr lang="en-US" sz="2000" dirty="0"/>
              <a:t>I </a:t>
            </a:r>
            <a:r>
              <a:rPr lang="en-US" sz="2000" dirty="0" err="1"/>
              <a:t>lexueshëm</a:t>
            </a:r>
            <a:endParaRPr lang="en-US" sz="2000" dirty="0"/>
          </a:p>
          <a:p>
            <a:pPr lvl="2"/>
            <a:r>
              <a:rPr lang="en-US" sz="2000" dirty="0" err="1"/>
              <a:t>Relativisht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lirë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rregullat</a:t>
            </a:r>
            <a:r>
              <a:rPr lang="en-US" sz="2000" dirty="0"/>
              <a:t> </a:t>
            </a:r>
            <a:r>
              <a:rPr lang="en-US" sz="2000" dirty="0" err="1"/>
              <a:t>gramatikore</a:t>
            </a:r>
            <a:r>
              <a:rPr lang="en-US" sz="2000" dirty="0"/>
              <a:t> </a:t>
            </a:r>
          </a:p>
          <a:p>
            <a:pPr lvl="2"/>
            <a:r>
              <a:rPr lang="en-US" sz="2000" dirty="0" err="1"/>
              <a:t>Përfshihen</a:t>
            </a:r>
            <a:r>
              <a:rPr lang="en-US" sz="2000" dirty="0"/>
              <a:t> </a:t>
            </a:r>
            <a:r>
              <a:rPr lang="en-US" sz="2000" dirty="0" err="1"/>
              <a:t>vetëm</a:t>
            </a:r>
            <a:r>
              <a:rPr lang="en-US" sz="2000" dirty="0"/>
              <a:t> </a:t>
            </a:r>
            <a:r>
              <a:rPr lang="en-US" sz="2000" dirty="0" err="1"/>
              <a:t>shprehje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mirë-përcaktuara</a:t>
            </a:r>
            <a:r>
              <a:rPr lang="en-US" sz="2000" dirty="0"/>
              <a:t> </a:t>
            </a:r>
          </a:p>
          <a:p>
            <a:pPr lvl="2"/>
            <a:r>
              <a:rPr lang="en-US" sz="2000" dirty="0"/>
              <a:t>“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gjuhë</a:t>
            </a:r>
            <a:r>
              <a:rPr lang="en-US" sz="2000" dirty="0"/>
              <a:t> </a:t>
            </a:r>
            <a:r>
              <a:rPr lang="en-US" sz="2000" dirty="0" err="1"/>
              <a:t>programimi</a:t>
            </a:r>
            <a:r>
              <a:rPr lang="en-US" sz="2000" dirty="0"/>
              <a:t> pa </a:t>
            </a:r>
            <a:r>
              <a:rPr lang="en-US" sz="2000" dirty="0" err="1"/>
              <a:t>detaje</a:t>
            </a:r>
            <a:r>
              <a:rPr lang="en-US" sz="2000" dirty="0"/>
              <a:t>”</a:t>
            </a:r>
          </a:p>
          <a:p>
            <a:pPr lvl="1"/>
            <a:r>
              <a:rPr lang="en-US" sz="2400" dirty="0" err="1"/>
              <a:t>Kunder</a:t>
            </a:r>
            <a:r>
              <a:rPr lang="en-US" sz="2400" dirty="0"/>
              <a:t>?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Pseudokod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328"/>
            <a:ext cx="8229600" cy="4919472"/>
          </a:xfrm>
        </p:spPr>
        <p:txBody>
          <a:bodyPr>
            <a:normAutofit/>
          </a:bodyPr>
          <a:lstStyle/>
          <a:p>
            <a:pPr marL="624078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800" dirty="0" err="1"/>
              <a:t>Së</a:t>
            </a:r>
            <a:r>
              <a:rPr lang="en-GB" sz="2800" dirty="0"/>
              <a:t> </a:t>
            </a:r>
            <a:r>
              <a:rPr lang="en-GB" sz="2800" dirty="0" err="1"/>
              <a:t>pari</a:t>
            </a:r>
            <a:r>
              <a:rPr lang="en-GB" sz="2800" dirty="0"/>
              <a:t> </a:t>
            </a:r>
            <a:r>
              <a:rPr lang="en-GB" sz="2800" b="1" dirty="0" err="1"/>
              <a:t>gjenero</a:t>
            </a:r>
            <a:r>
              <a:rPr lang="en-GB" sz="2800" b="1" dirty="0"/>
              <a:t> </a:t>
            </a:r>
            <a:r>
              <a:rPr lang="en-GB" sz="2800" b="1" dirty="0" err="1"/>
              <a:t>një</a:t>
            </a:r>
            <a:r>
              <a:rPr lang="en-GB" sz="2800" b="1" dirty="0"/>
              <a:t> </a:t>
            </a:r>
            <a:r>
              <a:rPr lang="en-GB" sz="2800" b="1" dirty="0" err="1"/>
              <a:t>algoritëm</a:t>
            </a:r>
            <a:r>
              <a:rPr lang="en-GB" sz="2800" b="1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përgjithshëm</a:t>
            </a:r>
            <a:r>
              <a:rPr lang="en-GB" sz="2800" dirty="0"/>
              <a:t> (</a:t>
            </a:r>
            <a:r>
              <a:rPr lang="en-GB" sz="2800" dirty="0" err="1"/>
              <a:t>mund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përdoret</a:t>
            </a:r>
            <a:r>
              <a:rPr lang="en-GB" sz="2800" dirty="0"/>
              <a:t> </a:t>
            </a:r>
            <a:r>
              <a:rPr lang="en-GB" sz="2800" dirty="0" err="1"/>
              <a:t>pseudokod</a:t>
            </a:r>
            <a:r>
              <a:rPr lang="en-GB" sz="2800" dirty="0"/>
              <a:t>).</a:t>
            </a:r>
          </a:p>
          <a:p>
            <a:pPr marL="624078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800" b="1" dirty="0" err="1"/>
              <a:t>Rafinoje</a:t>
            </a:r>
            <a:r>
              <a:rPr lang="en-GB" sz="2800" dirty="0"/>
              <a:t> </a:t>
            </a:r>
            <a:r>
              <a:rPr lang="en-GB" sz="2800" dirty="0" err="1"/>
              <a:t>algoritmin</a:t>
            </a:r>
            <a:r>
              <a:rPr lang="en-GB" sz="2800" dirty="0"/>
              <a:t> </a:t>
            </a:r>
            <a:r>
              <a:rPr lang="en-GB" sz="2800" dirty="0" err="1"/>
              <a:t>në</a:t>
            </a:r>
            <a:r>
              <a:rPr lang="en-GB" sz="2800" dirty="0"/>
              <a:t> </a:t>
            </a:r>
            <a:r>
              <a:rPr lang="en-GB" sz="2800" dirty="0" err="1"/>
              <a:t>mënyrë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njëpasnjëshme</a:t>
            </a:r>
            <a:r>
              <a:rPr lang="en-GB" sz="2800" dirty="0"/>
              <a:t> </a:t>
            </a:r>
            <a:r>
              <a:rPr lang="en-GB" sz="2800" dirty="0" err="1"/>
              <a:t>për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marrë</a:t>
            </a:r>
            <a:r>
              <a:rPr lang="en-GB" sz="2800" dirty="0"/>
              <a:t> </a:t>
            </a:r>
            <a:r>
              <a:rPr lang="en-GB" sz="2800" dirty="0" err="1"/>
              <a:t>një</a:t>
            </a:r>
            <a:r>
              <a:rPr lang="en-GB" sz="2800" dirty="0"/>
              <a:t> </a:t>
            </a:r>
            <a:r>
              <a:rPr lang="en-GB" sz="2800" dirty="0" err="1"/>
              <a:t>algoritëm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detajuar</a:t>
            </a:r>
            <a:r>
              <a:rPr lang="en-GB" sz="2800" dirty="0"/>
              <a:t> hap pas </a:t>
            </a:r>
            <a:r>
              <a:rPr lang="en-GB" sz="2800" dirty="0" err="1"/>
              <a:t>hapi</a:t>
            </a:r>
            <a:r>
              <a:rPr lang="en-GB" sz="2800" dirty="0"/>
              <a:t>, </a:t>
            </a:r>
            <a:r>
              <a:rPr lang="en-GB" sz="2800" dirty="0" err="1"/>
              <a:t>që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shumë</a:t>
            </a:r>
            <a:r>
              <a:rPr lang="en-GB" sz="2800" dirty="0"/>
              <a:t> </a:t>
            </a:r>
            <a:r>
              <a:rPr lang="en-GB" sz="2800" dirty="0" err="1"/>
              <a:t>afër</a:t>
            </a:r>
            <a:r>
              <a:rPr lang="en-GB" sz="2800" dirty="0"/>
              <a:t> </a:t>
            </a:r>
            <a:r>
              <a:rPr lang="en-GB" sz="2800" dirty="0" err="1"/>
              <a:t>një</a:t>
            </a:r>
            <a:r>
              <a:rPr lang="en-GB" sz="2800" dirty="0"/>
              <a:t> </a:t>
            </a:r>
            <a:r>
              <a:rPr lang="en-GB" sz="2800" dirty="0" err="1"/>
              <a:t>gjuhe</a:t>
            </a:r>
            <a:r>
              <a:rPr lang="en-GB" sz="2800" dirty="0"/>
              <a:t> </a:t>
            </a:r>
            <a:r>
              <a:rPr lang="en-GB" sz="2800" dirty="0" err="1"/>
              <a:t>kompjuterike</a:t>
            </a:r>
            <a:r>
              <a:rPr lang="en-GB" sz="2800" dirty="0"/>
              <a:t>.</a:t>
            </a:r>
          </a:p>
          <a:p>
            <a:pPr marL="624078" indent="-514350">
              <a:lnSpc>
                <a:spcPct val="90000"/>
              </a:lnSpc>
              <a:buFont typeface="+mj-lt"/>
              <a:buAutoNum type="arabicPeriod"/>
            </a:pPr>
            <a:r>
              <a:rPr lang="en-GB" sz="2800" dirty="0" err="1"/>
              <a:t>Pseudokodi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një</a:t>
            </a:r>
            <a:r>
              <a:rPr lang="en-GB" sz="2800" dirty="0"/>
              <a:t> </a:t>
            </a:r>
            <a:r>
              <a:rPr lang="en-GB" sz="2800" dirty="0" err="1"/>
              <a:t>gjuhë</a:t>
            </a:r>
            <a:r>
              <a:rPr lang="en-GB" sz="2800" dirty="0"/>
              <a:t> </a:t>
            </a:r>
            <a:r>
              <a:rPr lang="en-GB" sz="2800" dirty="0" err="1"/>
              <a:t>artificiale</a:t>
            </a:r>
            <a:r>
              <a:rPr lang="en-GB" sz="2800" dirty="0"/>
              <a:t> </a:t>
            </a:r>
            <a:r>
              <a:rPr lang="en-GB" sz="2800" dirty="0" err="1"/>
              <a:t>dhe</a:t>
            </a:r>
            <a:r>
              <a:rPr lang="en-GB" sz="2800" dirty="0"/>
              <a:t> </a:t>
            </a:r>
            <a:r>
              <a:rPr lang="en-GB" sz="2800" dirty="0" err="1"/>
              <a:t>joformale</a:t>
            </a:r>
            <a:r>
              <a:rPr lang="en-GB" sz="2800" dirty="0"/>
              <a:t> </a:t>
            </a:r>
            <a:r>
              <a:rPr lang="en-GB" sz="2800" dirty="0" err="1"/>
              <a:t>që</a:t>
            </a:r>
            <a:r>
              <a:rPr lang="en-GB" sz="2800" dirty="0"/>
              <a:t> </a:t>
            </a:r>
            <a:r>
              <a:rPr lang="en-GB" sz="2800" dirty="0" err="1"/>
              <a:t>i</a:t>
            </a:r>
            <a:r>
              <a:rPr lang="en-GB" sz="2800" dirty="0"/>
              <a:t> </a:t>
            </a:r>
            <a:r>
              <a:rPr lang="en-GB" sz="2800" dirty="0" err="1"/>
              <a:t>ndihmon</a:t>
            </a:r>
            <a:r>
              <a:rPr lang="en-GB" sz="2800" dirty="0"/>
              <a:t> </a:t>
            </a:r>
            <a:r>
              <a:rPr lang="en-GB" sz="2800" dirty="0" err="1"/>
              <a:t>programuesit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zhvillojnë</a:t>
            </a:r>
            <a:r>
              <a:rPr lang="en-GB" sz="2800" dirty="0"/>
              <a:t> </a:t>
            </a:r>
            <a:r>
              <a:rPr lang="en-GB" sz="2800" dirty="0" err="1"/>
              <a:t>algoritme</a:t>
            </a:r>
            <a:r>
              <a:rPr lang="en-GB" sz="2800" dirty="0"/>
              <a:t>. </a:t>
            </a:r>
            <a:r>
              <a:rPr lang="en-GB" sz="2800" dirty="0" err="1"/>
              <a:t>Pseudokodi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shumë</a:t>
            </a:r>
            <a:r>
              <a:rPr lang="en-GB" sz="2800" dirty="0"/>
              <a:t> </a:t>
            </a:r>
            <a:r>
              <a:rPr lang="en-GB" sz="2800" dirty="0" err="1"/>
              <a:t>i</a:t>
            </a:r>
            <a:r>
              <a:rPr lang="en-GB" sz="2800" dirty="0"/>
              <a:t> </a:t>
            </a:r>
            <a:r>
              <a:rPr lang="en-GB" sz="2800" dirty="0" err="1"/>
              <a:t>ngjashëm</a:t>
            </a:r>
            <a:r>
              <a:rPr lang="en-GB" sz="2800" dirty="0"/>
              <a:t> me </a:t>
            </a:r>
            <a:r>
              <a:rPr lang="en-GB" sz="2800" dirty="0" err="1"/>
              <a:t>gjuhen</a:t>
            </a:r>
            <a:r>
              <a:rPr lang="en-GB" sz="2800" dirty="0"/>
              <a:t> e </a:t>
            </a:r>
            <a:r>
              <a:rPr lang="en-GB" sz="2800" dirty="0" err="1"/>
              <a:t>përditshme</a:t>
            </a:r>
            <a:r>
              <a:rPr lang="en-GB" sz="2800" dirty="0"/>
              <a:t>.</a:t>
            </a:r>
            <a:endParaRPr lang="en-US" sz="28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Hapat në Zgjidhjen e Problemit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Shembull</a:t>
            </a:r>
            <a:r>
              <a:rPr lang="en-US" b="1" dirty="0"/>
              <a:t> 1:</a:t>
            </a:r>
            <a:r>
              <a:rPr lang="en-US" dirty="0"/>
              <a:t> </a:t>
            </a:r>
            <a:r>
              <a:rPr lang="en-GB" dirty="0" err="1"/>
              <a:t>Shkruaj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algoritëm</a:t>
            </a:r>
            <a:r>
              <a:rPr lang="en-GB" dirty="0"/>
              <a:t>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përcaktuar</a:t>
            </a:r>
            <a:r>
              <a:rPr lang="en-GB" dirty="0"/>
              <a:t> </a:t>
            </a:r>
            <a:r>
              <a:rPr lang="en-GB" dirty="0" err="1"/>
              <a:t>notën</a:t>
            </a:r>
            <a:r>
              <a:rPr lang="en-GB" dirty="0"/>
              <a:t> </a:t>
            </a:r>
            <a:r>
              <a:rPr lang="en-GB" dirty="0" err="1"/>
              <a:t>përfundimtare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studenti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treguar</a:t>
            </a:r>
            <a:r>
              <a:rPr lang="en-GB" dirty="0"/>
              <a:t> </a:t>
            </a:r>
            <a:r>
              <a:rPr lang="en-GB" dirty="0" err="1"/>
              <a:t>nëse</a:t>
            </a:r>
            <a:r>
              <a:rPr lang="en-GB" dirty="0"/>
              <a:t> ai ka </a:t>
            </a:r>
            <a:r>
              <a:rPr lang="en-GB" dirty="0" err="1"/>
              <a:t>kaluar</a:t>
            </a:r>
            <a:r>
              <a:rPr lang="en-GB" dirty="0"/>
              <a:t> apo ka </a:t>
            </a:r>
            <a:r>
              <a:rPr lang="en-GB" dirty="0" err="1"/>
              <a:t>ngelur</a:t>
            </a:r>
            <a:r>
              <a:rPr lang="en-GB" dirty="0"/>
              <a:t>. Nota </a:t>
            </a:r>
            <a:r>
              <a:rPr lang="en-GB" dirty="0" err="1"/>
              <a:t>përfundimtare</a:t>
            </a:r>
            <a:r>
              <a:rPr lang="en-GB" dirty="0"/>
              <a:t> </a:t>
            </a:r>
            <a:r>
              <a:rPr lang="en-GB" dirty="0" err="1"/>
              <a:t>llogaritet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mesatarja</a:t>
            </a:r>
            <a:r>
              <a:rPr lang="en-GB" dirty="0"/>
              <a:t> e </a:t>
            </a:r>
            <a:r>
              <a:rPr lang="en-GB" dirty="0" err="1"/>
              <a:t>katër</a:t>
            </a:r>
            <a:r>
              <a:rPr lang="en-GB" dirty="0"/>
              <a:t> </a:t>
            </a:r>
            <a:r>
              <a:rPr lang="en-GB" dirty="0" err="1"/>
              <a:t>notave</a:t>
            </a:r>
            <a:r>
              <a:rPr lang="en-GB" dirty="0"/>
              <a:t>.</a:t>
            </a:r>
            <a:r>
              <a:rPr lang="en-US" dirty="0"/>
              <a:t>.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Pseudokodi</a:t>
            </a:r>
            <a:r>
              <a:rPr lang="tr-TR"/>
              <a:t> </a:t>
            </a:r>
            <a:r>
              <a:rPr lang="en-US"/>
              <a:t>&amp; Algoritmi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/>
              <a:t>Pseudokodi</a:t>
            </a:r>
            <a:r>
              <a:rPr lang="en-US" sz="2800"/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i="1"/>
              <a:t>Futni një grup prej 4 notash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i="1"/>
              <a:t>Llogaritni mesataren e tyre duke mbledhur dhe pjesëtuar me 4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i="1"/>
              <a:t>nëse mesatarja është nën 50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/>
              <a:t>		Printo “FAIL”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/>
              <a:t>	përndryshe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/>
              <a:t>		Printo “PASS”</a:t>
            </a:r>
            <a:endParaRPr lang="en-US" sz="280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Pseudokodi</a:t>
            </a:r>
            <a:r>
              <a:rPr lang="tr-TR"/>
              <a:t> </a:t>
            </a:r>
            <a:r>
              <a:rPr lang="en-US"/>
              <a:t>&amp; Algoritmi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Algoritmi i Detajuar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	Hapi 1:  	Hyrja M1,M2,M3,M4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	Hapi 2: 	GRADE </a:t>
            </a:r>
            <a:r>
              <a:rPr lang="en-US" sz="2800">
                <a:sym typeface="Symbol" pitchFamily="18" charset="2"/>
              </a:rPr>
              <a:t></a:t>
            </a:r>
            <a:r>
              <a:rPr lang="en-US" sz="2800"/>
              <a:t> (M1+M2+M3+M4)/4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	Hapi 3: 	nëse (GRADE &lt; 50) atëherë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				Printo “FAIL”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 				përndryshe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				Printo “PASS”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			fundnëse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Pseudokodi</a:t>
            </a:r>
            <a:r>
              <a:rPr lang="tr-TR"/>
              <a:t> </a:t>
            </a:r>
            <a:r>
              <a:rPr lang="en-US"/>
              <a:t>&amp; Algoritmi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328"/>
            <a:ext cx="8229600" cy="484327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(Fjalori) Një përfaqësim skematik i një sekuence operacionesh, si në një proces prodhimi ose program kompjuteri.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(Teknik) Një përfaqësim grafik i sekuencës së operacioneve në një sistem informacioni ose program.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Diagramet rrjedhëse të sistemit të informacionit tregojnë si rrjedhin të dhënat nga dokumentet burim përmes kompjuterit deri te shpërndarja përfundimtare te përdoruesit.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Diagramet rrjedhëse të programit tregojnë sekuencën e udhëzimeve në një program të vetëm ose nënrutinë. Simbole të ndryshme përdoren për të vizatuar çdo lloj diagrami rrjedhës.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Diagrami Rrjedhës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Një Diagram Rrjedhës</a:t>
            </a:r>
          </a:p>
          <a:p>
            <a:pPr lvl="1" eaLnBrk="1" hangingPunct="1"/>
            <a:r>
              <a:rPr lang="en-US"/>
              <a:t>tregon logjikën e një algoritmi</a:t>
            </a:r>
          </a:p>
          <a:p>
            <a:pPr lvl="1" eaLnBrk="1" hangingPunct="1"/>
            <a:r>
              <a:rPr lang="en-US"/>
              <a:t>thekson hapat individualë dhe ndërlidhjet e tyre</a:t>
            </a:r>
          </a:p>
          <a:p>
            <a:pPr lvl="1" eaLnBrk="1" hangingPunct="1"/>
            <a:r>
              <a:rPr lang="en-US"/>
              <a:t>p.sh. rrjedha e kontrollit nga një veprim në tjetrin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Diagrami Rrjedhës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2016125" y="1295400"/>
          <a:ext cx="511175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101225" imgH="5549102" progId="">
                  <p:embed/>
                </p:oleObj>
              </mc:Choice>
              <mc:Fallback>
                <p:oleObj name="Visio" r:id="rId2" imgW="6101225" imgH="5549102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1295400"/>
                        <a:ext cx="511175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Simbolet e Diagramit Rrjedhës </a:t>
            </a:r>
          </a:p>
        </p:txBody>
      </p:sp>
      <p:sp>
        <p:nvSpPr>
          <p:cNvPr id="1028" name="Text Box 8"/>
          <p:cNvSpPr txBox="1">
            <a:spLocks noChangeArrowheads="1"/>
          </p:cNvSpPr>
          <p:nvPr/>
        </p:nvSpPr>
        <p:spPr bwMode="auto">
          <a:xfrm>
            <a:off x="685800" y="533400"/>
            <a:ext cx="106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Bazike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</a:t>
            </a:r>
          </a:p>
        </p:txBody>
      </p:sp>
      <p:sp>
        <p:nvSpPr>
          <p:cNvPr id="14339" name="AutoShape 15"/>
          <p:cNvSpPr>
            <a:spLocks noChangeArrowheads="1"/>
          </p:cNvSpPr>
          <p:nvPr/>
        </p:nvSpPr>
        <p:spPr bwMode="auto">
          <a:xfrm>
            <a:off x="457200" y="4887913"/>
            <a:ext cx="1597025" cy="592137"/>
          </a:xfrm>
          <a:prstGeom prst="flowChartDisplay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200" b="1"/>
              <a:t>PRINT</a:t>
            </a:r>
          </a:p>
          <a:p>
            <a:pPr algn="ctr"/>
            <a:r>
              <a:rPr lang="en-US" sz="1200" b="1"/>
              <a:t>“PASS”</a:t>
            </a:r>
            <a:endParaRPr lang="en-US"/>
          </a:p>
        </p:txBody>
      </p:sp>
      <p:sp>
        <p:nvSpPr>
          <p:cNvPr id="14340" name="Text Box 29"/>
          <p:cNvSpPr txBox="1">
            <a:spLocks noChangeArrowheads="1"/>
          </p:cNvSpPr>
          <p:nvPr/>
        </p:nvSpPr>
        <p:spPr bwMode="auto">
          <a:xfrm>
            <a:off x="5334000" y="1600200"/>
            <a:ext cx="3124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tr-TR"/>
          </a:p>
        </p:txBody>
      </p:sp>
      <p:sp>
        <p:nvSpPr>
          <p:cNvPr id="14341" name="Text Box 30"/>
          <p:cNvSpPr txBox="1">
            <a:spLocks noChangeArrowheads="1"/>
          </p:cNvSpPr>
          <p:nvPr/>
        </p:nvSpPr>
        <p:spPr bwMode="auto">
          <a:xfrm>
            <a:off x="4419600" y="1905000"/>
            <a:ext cx="4572000" cy="242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Hapi 1:  	Hyrja M1,M2,M3,M4</a:t>
            </a:r>
          </a:p>
          <a:p>
            <a:r>
              <a:rPr lang="en-US"/>
              <a:t>Hapi 2: 	GRADE </a:t>
            </a:r>
            <a:r>
              <a:rPr lang="en-US">
                <a:sym typeface="Symbol" pitchFamily="18" charset="2"/>
              </a:rPr>
              <a:t></a:t>
            </a:r>
            <a:r>
              <a:rPr lang="en-US"/>
              <a:t> (M1+M2+M3+M4)/4 </a:t>
            </a:r>
          </a:p>
          <a:p>
            <a:r>
              <a:rPr lang="en-US"/>
              <a:t>Hapi 3: 	nëse (GRADE &lt;50) atëherë</a:t>
            </a:r>
          </a:p>
          <a:p>
            <a:r>
              <a:rPr lang="en-US"/>
              <a:t>	       	Printo “FAIL”</a:t>
            </a:r>
          </a:p>
          <a:p>
            <a:r>
              <a:rPr lang="en-US"/>
              <a:t>  	përndryshe</a:t>
            </a:r>
          </a:p>
          <a:p>
            <a:r>
              <a:rPr lang="en-US"/>
              <a:t>		Printo “PASS”</a:t>
            </a:r>
          </a:p>
          <a:p>
            <a:r>
              <a:rPr lang="en-US"/>
              <a:t> 	fundnëse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130300" y="1828800"/>
            <a:ext cx="3441700" cy="4413250"/>
            <a:chOff x="712" y="1152"/>
            <a:chExt cx="2168" cy="2780"/>
          </a:xfrm>
        </p:grpSpPr>
        <p:sp>
          <p:nvSpPr>
            <p:cNvPr id="14343" name="AutoShape 9"/>
            <p:cNvSpPr>
              <a:spLocks noChangeArrowheads="1"/>
            </p:cNvSpPr>
            <p:nvPr/>
          </p:nvSpPr>
          <p:spPr bwMode="auto">
            <a:xfrm>
              <a:off x="1352" y="1152"/>
              <a:ext cx="592" cy="213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FILLIMI</a:t>
              </a:r>
              <a:endParaRPr lang="en-US"/>
            </a:p>
          </p:txBody>
        </p:sp>
        <p:sp>
          <p:nvSpPr>
            <p:cNvPr id="14344" name="Line 10"/>
            <p:cNvSpPr>
              <a:spLocks noChangeShapeType="1"/>
            </p:cNvSpPr>
            <p:nvPr/>
          </p:nvSpPr>
          <p:spPr bwMode="auto">
            <a:xfrm>
              <a:off x="1648" y="1365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AutoShape 11"/>
            <p:cNvSpPr>
              <a:spLocks noChangeArrowheads="1"/>
            </p:cNvSpPr>
            <p:nvPr/>
          </p:nvSpPr>
          <p:spPr bwMode="auto">
            <a:xfrm>
              <a:off x="987" y="1532"/>
              <a:ext cx="1301" cy="320"/>
            </a:xfrm>
            <a:prstGeom prst="flowChartInputOutpu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Hyrja</a:t>
              </a:r>
            </a:p>
            <a:p>
              <a:pPr algn="ctr"/>
              <a:r>
                <a:rPr lang="en-US" sz="1200" b="1"/>
                <a:t>M1,M2,M3,M4</a:t>
              </a:r>
              <a:endParaRPr lang="en-US"/>
            </a:p>
          </p:txBody>
        </p:sp>
        <p:sp>
          <p:nvSpPr>
            <p:cNvPr id="14346" name="AutoShape 12"/>
            <p:cNvSpPr>
              <a:spLocks noChangeArrowheads="1"/>
            </p:cNvSpPr>
            <p:nvPr/>
          </p:nvSpPr>
          <p:spPr bwMode="auto">
            <a:xfrm>
              <a:off x="817" y="2068"/>
              <a:ext cx="1489" cy="213"/>
            </a:xfrm>
            <a:prstGeom prst="flowChartProcess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1"/>
                <a:t>GRADE</a:t>
              </a:r>
              <a:r>
                <a:rPr lang="en-US" sz="1200" b="1">
                  <a:sym typeface="Symbol" pitchFamily="18" charset="2"/>
                </a:rPr>
                <a:t></a:t>
              </a:r>
              <a:r>
                <a:rPr lang="en-US" sz="1200" b="1"/>
                <a:t>(M1+M2+M3+M4)/4</a:t>
              </a:r>
              <a:endParaRPr lang="en-US"/>
            </a:p>
          </p:txBody>
        </p:sp>
        <p:sp>
          <p:nvSpPr>
            <p:cNvPr id="14347" name="Line 13"/>
            <p:cNvSpPr>
              <a:spLocks noChangeShapeType="1"/>
            </p:cNvSpPr>
            <p:nvPr/>
          </p:nvSpPr>
          <p:spPr bwMode="auto">
            <a:xfrm>
              <a:off x="1578" y="1852"/>
              <a:ext cx="0" cy="2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AutoShape 14"/>
            <p:cNvSpPr>
              <a:spLocks noChangeArrowheads="1"/>
            </p:cNvSpPr>
            <p:nvPr/>
          </p:nvSpPr>
          <p:spPr bwMode="auto">
            <a:xfrm>
              <a:off x="987" y="2439"/>
              <a:ext cx="1183" cy="533"/>
            </a:xfrm>
            <a:prstGeom prst="flowChartDecision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IS </a:t>
              </a:r>
              <a:r>
                <a:rPr lang="en-US" sz="1100"/>
                <a:t>GRADE&lt;50</a:t>
              </a:r>
            </a:p>
          </p:txBody>
        </p:sp>
        <p:sp>
          <p:nvSpPr>
            <p:cNvPr id="14349" name="AutoShape 16"/>
            <p:cNvSpPr>
              <a:spLocks noChangeArrowheads="1"/>
            </p:cNvSpPr>
            <p:nvPr/>
          </p:nvSpPr>
          <p:spPr bwMode="auto">
            <a:xfrm>
              <a:off x="1874" y="3079"/>
              <a:ext cx="1006" cy="373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PRINT</a:t>
              </a:r>
            </a:p>
            <a:p>
              <a:pPr algn="ctr"/>
              <a:r>
                <a:rPr lang="en-US" sz="1200" b="1"/>
                <a:t>“FAIL”</a:t>
              </a:r>
              <a:endParaRPr lang="en-US"/>
            </a:p>
          </p:txBody>
        </p:sp>
        <p:sp>
          <p:nvSpPr>
            <p:cNvPr id="14350" name="Line 17"/>
            <p:cNvSpPr>
              <a:spLocks noChangeShapeType="1"/>
            </p:cNvSpPr>
            <p:nvPr/>
          </p:nvSpPr>
          <p:spPr bwMode="auto">
            <a:xfrm>
              <a:off x="1578" y="3612"/>
              <a:ext cx="0" cy="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AutoShape 18"/>
            <p:cNvSpPr>
              <a:spLocks noChangeArrowheads="1"/>
            </p:cNvSpPr>
            <p:nvPr/>
          </p:nvSpPr>
          <p:spPr bwMode="auto">
            <a:xfrm>
              <a:off x="1283" y="3719"/>
              <a:ext cx="591" cy="213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FUNDI</a:t>
              </a:r>
              <a:endParaRPr lang="en-US"/>
            </a:p>
          </p:txBody>
        </p:sp>
        <p:sp>
          <p:nvSpPr>
            <p:cNvPr id="14352" name="Line 19"/>
            <p:cNvSpPr>
              <a:spLocks noChangeShapeType="1"/>
            </p:cNvSpPr>
            <p:nvPr/>
          </p:nvSpPr>
          <p:spPr bwMode="auto">
            <a:xfrm>
              <a:off x="768" y="3612"/>
              <a:ext cx="169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20"/>
            <p:cNvSpPr>
              <a:spLocks noChangeShapeType="1"/>
            </p:cNvSpPr>
            <p:nvPr/>
          </p:nvSpPr>
          <p:spPr bwMode="auto">
            <a:xfrm flipV="1">
              <a:off x="768" y="3452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21"/>
            <p:cNvSpPr>
              <a:spLocks noChangeShapeType="1"/>
            </p:cNvSpPr>
            <p:nvPr/>
          </p:nvSpPr>
          <p:spPr bwMode="auto">
            <a:xfrm flipV="1">
              <a:off x="2466" y="3452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22"/>
            <p:cNvSpPr>
              <a:spLocks noChangeShapeType="1"/>
            </p:cNvSpPr>
            <p:nvPr/>
          </p:nvSpPr>
          <p:spPr bwMode="auto">
            <a:xfrm>
              <a:off x="2170" y="2705"/>
              <a:ext cx="2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Line 23"/>
            <p:cNvSpPr>
              <a:spLocks noChangeShapeType="1"/>
            </p:cNvSpPr>
            <p:nvPr/>
          </p:nvSpPr>
          <p:spPr bwMode="auto">
            <a:xfrm>
              <a:off x="2466" y="2705"/>
              <a:ext cx="0" cy="3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Line 24"/>
            <p:cNvSpPr>
              <a:spLocks noChangeShapeType="1"/>
            </p:cNvSpPr>
            <p:nvPr/>
          </p:nvSpPr>
          <p:spPr bwMode="auto">
            <a:xfrm>
              <a:off x="720" y="2688"/>
              <a:ext cx="0" cy="3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Line 26"/>
            <p:cNvSpPr>
              <a:spLocks noChangeShapeType="1"/>
            </p:cNvSpPr>
            <p:nvPr/>
          </p:nvSpPr>
          <p:spPr bwMode="auto">
            <a:xfrm>
              <a:off x="1578" y="2279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Text Box 27"/>
            <p:cNvSpPr txBox="1">
              <a:spLocks noChangeArrowheads="1"/>
            </p:cNvSpPr>
            <p:nvPr/>
          </p:nvSpPr>
          <p:spPr bwMode="auto">
            <a:xfrm>
              <a:off x="2160" y="2544"/>
              <a:ext cx="296" cy="159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Y</a:t>
              </a:r>
              <a:endParaRPr lang="en-US"/>
            </a:p>
          </p:txBody>
        </p:sp>
        <p:sp>
          <p:nvSpPr>
            <p:cNvPr id="14360" name="Text Box 28"/>
            <p:cNvSpPr txBox="1">
              <a:spLocks noChangeArrowheads="1"/>
            </p:cNvSpPr>
            <p:nvPr/>
          </p:nvSpPr>
          <p:spPr bwMode="auto">
            <a:xfrm>
              <a:off x="720" y="2528"/>
              <a:ext cx="296" cy="16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N</a:t>
              </a:r>
              <a:endParaRPr lang="en-US"/>
            </a:p>
          </p:txBody>
        </p:sp>
        <p:sp>
          <p:nvSpPr>
            <p:cNvPr id="14361" name="Line 33"/>
            <p:cNvSpPr>
              <a:spLocks noChangeShapeType="1"/>
            </p:cNvSpPr>
            <p:nvPr/>
          </p:nvSpPr>
          <p:spPr bwMode="auto">
            <a:xfrm>
              <a:off x="712" y="2688"/>
              <a:ext cx="2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Shkruani një algoritëm dhe vizatoni një diagram rrjedhës për të konvertuar gjatësinë </a:t>
            </a:r>
            <a:r>
              <a:rPr lang="en-US" dirty="0" err="1"/>
              <a:t>nga</a:t>
            </a:r>
            <a:r>
              <a:rPr lang="en-US" dirty="0"/>
              <a:t> foot në centimetra.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 err="1"/>
              <a:t>Pseudokodi</a:t>
            </a:r>
            <a:r>
              <a:rPr lang="en-US" dirty="0"/>
              <a:t>:	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 </a:t>
            </a:r>
            <a:r>
              <a:rPr lang="en-US" i="1" dirty="0"/>
              <a:t>Hyrja the length in feet (</a:t>
            </a:r>
            <a:r>
              <a:rPr lang="en-US" i="1" dirty="0" err="1"/>
              <a:t>Lft</a:t>
            </a:r>
            <a:r>
              <a:rPr lang="en-US" i="1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i="1" dirty="0"/>
              <a:t>Llogaritni gjatësinë në cm (Lcm) duke shumëzuar LFT me 30</a:t>
            </a:r>
          </a:p>
          <a:p>
            <a:pPr eaLnBrk="1" hangingPunct="1">
              <a:lnSpc>
                <a:spcPct val="90000"/>
              </a:lnSpc>
            </a:pPr>
            <a:r>
              <a:rPr lang="en-US" i="1" dirty="0" err="1"/>
              <a:t>Printoni</a:t>
            </a:r>
            <a:r>
              <a:rPr lang="en-US" i="1" dirty="0"/>
              <a:t> gjatësinë në cm (LCM)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/>
              <a:t>Algoritmi</a:t>
            </a:r>
            <a:r>
              <a:rPr lang="en-US"/>
              <a:t> </a:t>
            </a:r>
          </a:p>
          <a:p>
            <a:pPr eaLnBrk="1" hangingPunct="1"/>
            <a:r>
              <a:rPr lang="en-US"/>
              <a:t>Hapi 1:  Hyrja Lft</a:t>
            </a:r>
          </a:p>
          <a:p>
            <a:pPr eaLnBrk="1" hangingPunct="1"/>
            <a:r>
              <a:rPr lang="en-US"/>
              <a:t>Hapi 2: 	Lcm </a:t>
            </a:r>
            <a:r>
              <a:rPr lang="en-US">
                <a:sym typeface="Symbol" pitchFamily="18" charset="2"/>
              </a:rPr>
              <a:t></a:t>
            </a:r>
            <a:r>
              <a:rPr lang="en-US"/>
              <a:t> Lft x 30 </a:t>
            </a:r>
          </a:p>
          <a:p>
            <a:pPr eaLnBrk="1" hangingPunct="1"/>
            <a:r>
              <a:rPr lang="en-US"/>
              <a:t>Hapi 3: 	Printo Lcm</a:t>
            </a:r>
          </a:p>
          <a:p>
            <a:pPr eaLnBrk="1" hangingPunct="1"/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2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715000" y="2362200"/>
            <a:ext cx="2011363" cy="3670300"/>
            <a:chOff x="2448" y="5328"/>
            <a:chExt cx="3168" cy="5779"/>
          </a:xfrm>
        </p:grpSpPr>
        <p:sp>
          <p:nvSpPr>
            <p:cNvPr id="16390" name="AutoShape 5"/>
            <p:cNvSpPr>
              <a:spLocks noChangeArrowheads="1"/>
            </p:cNvSpPr>
            <p:nvPr/>
          </p:nvSpPr>
          <p:spPr bwMode="auto">
            <a:xfrm>
              <a:off x="3337" y="5328"/>
              <a:ext cx="1440" cy="576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1"/>
                <a:t>FILLIMI</a:t>
              </a:r>
              <a:endParaRPr lang="en-US"/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>
              <a:off x="4057" y="590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AutoShape 7"/>
            <p:cNvSpPr>
              <a:spLocks noChangeArrowheads="1"/>
            </p:cNvSpPr>
            <p:nvPr/>
          </p:nvSpPr>
          <p:spPr bwMode="auto">
            <a:xfrm>
              <a:off x="2448" y="6355"/>
              <a:ext cx="3168" cy="864"/>
            </a:xfrm>
            <a:prstGeom prst="flowChartInputOutpu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Hyrja</a:t>
              </a:r>
            </a:p>
            <a:p>
              <a:pPr algn="ctr"/>
              <a:r>
                <a:rPr lang="en-US" sz="1200" b="1"/>
                <a:t>Lft</a:t>
              </a:r>
              <a:endParaRPr lang="en-US"/>
            </a:p>
          </p:txBody>
        </p:sp>
        <p:sp>
          <p:nvSpPr>
            <p:cNvPr id="16393" name="AutoShape 8"/>
            <p:cNvSpPr>
              <a:spLocks noChangeArrowheads="1"/>
            </p:cNvSpPr>
            <p:nvPr/>
          </p:nvSpPr>
          <p:spPr bwMode="auto">
            <a:xfrm>
              <a:off x="2967" y="7801"/>
              <a:ext cx="2141" cy="576"/>
            </a:xfrm>
            <a:prstGeom prst="flowChartProcess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Lcm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200" b="1"/>
                <a:t> Lft x 30</a:t>
              </a:r>
            </a:p>
          </p:txBody>
        </p:sp>
        <p:sp>
          <p:nvSpPr>
            <p:cNvPr id="16394" name="Line 9"/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AutoShape 10"/>
            <p:cNvSpPr>
              <a:spLocks noChangeArrowheads="1"/>
            </p:cNvSpPr>
            <p:nvPr/>
          </p:nvSpPr>
          <p:spPr bwMode="auto">
            <a:xfrm>
              <a:off x="2812" y="8947"/>
              <a:ext cx="2448" cy="1008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Printo</a:t>
              </a:r>
            </a:p>
            <a:p>
              <a:pPr algn="ctr"/>
              <a:r>
                <a:rPr lang="en-US" sz="1200" b="1"/>
                <a:t>Lcm</a:t>
              </a:r>
              <a:endParaRPr lang="en-US"/>
            </a:p>
          </p:txBody>
        </p:sp>
        <p:sp>
          <p:nvSpPr>
            <p:cNvPr id="16396" name="AutoShape 11"/>
            <p:cNvSpPr>
              <a:spLocks noChangeArrowheads="1"/>
            </p:cNvSpPr>
            <p:nvPr/>
          </p:nvSpPr>
          <p:spPr bwMode="auto">
            <a:xfrm>
              <a:off x="3293" y="10512"/>
              <a:ext cx="1440" cy="595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200" b="1"/>
                <a:t>FUNDI</a:t>
              </a:r>
              <a:endParaRPr lang="en-US"/>
            </a:p>
          </p:txBody>
        </p:sp>
        <p:sp>
          <p:nvSpPr>
            <p:cNvPr id="16397" name="Line 12"/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Line 13"/>
            <p:cNvSpPr>
              <a:spLocks noChangeShapeType="1"/>
            </p:cNvSpPr>
            <p:nvPr/>
          </p:nvSpPr>
          <p:spPr bwMode="auto">
            <a:xfrm>
              <a:off x="4032" y="9955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89" name="Text Box 14"/>
          <p:cNvSpPr txBox="1">
            <a:spLocks noChangeArrowheads="1"/>
          </p:cNvSpPr>
          <p:nvPr/>
        </p:nvSpPr>
        <p:spPr bwMode="auto">
          <a:xfrm>
            <a:off x="6019800" y="16002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Diagrami Rrjedhës</a:t>
            </a:r>
            <a:r>
              <a:rPr lang="en-US" sz="240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b="1" dirty="0"/>
              <a:t>	</a:t>
            </a:r>
            <a:r>
              <a:rPr lang="en-US" sz="2800" b="1" dirty="0" err="1"/>
              <a:t>Shkruani</a:t>
            </a:r>
            <a:r>
              <a:rPr lang="en-US" sz="2800" b="1" dirty="0"/>
              <a:t> </a:t>
            </a:r>
            <a:r>
              <a:rPr lang="en-US" sz="2800" b="1" dirty="0" err="1"/>
              <a:t>një</a:t>
            </a:r>
            <a:r>
              <a:rPr lang="en-US" sz="2800" b="1" dirty="0"/>
              <a:t> </a:t>
            </a:r>
            <a:r>
              <a:rPr lang="en-US" sz="2800" b="1" dirty="0" err="1"/>
              <a:t>algoritëm</a:t>
            </a:r>
            <a:r>
              <a:rPr lang="en-US" sz="2800" b="1" dirty="0"/>
              <a:t> </a:t>
            </a:r>
            <a:r>
              <a:rPr lang="en-US" sz="2800" b="1" dirty="0" err="1"/>
              <a:t>dhe</a:t>
            </a:r>
            <a:r>
              <a:rPr lang="en-US" sz="2800" b="1" dirty="0"/>
              <a:t> </a:t>
            </a:r>
            <a:r>
              <a:rPr lang="en-US" sz="2800" b="1" dirty="0" err="1"/>
              <a:t>vizatoni</a:t>
            </a:r>
            <a:r>
              <a:rPr lang="en-US" sz="2800" b="1" dirty="0"/>
              <a:t> </a:t>
            </a:r>
            <a:r>
              <a:rPr lang="en-US" sz="2800" b="1" dirty="0" err="1"/>
              <a:t>një</a:t>
            </a:r>
            <a:r>
              <a:rPr lang="en-US" sz="2800" b="1" dirty="0"/>
              <a:t> diagram </a:t>
            </a:r>
            <a:r>
              <a:rPr lang="en-US" sz="2800" b="1" dirty="0" err="1"/>
              <a:t>rrjedhës</a:t>
            </a:r>
            <a:r>
              <a:rPr lang="en-US" sz="2800" b="1" dirty="0"/>
              <a:t> </a:t>
            </a:r>
            <a:r>
              <a:rPr lang="en-US" sz="2800" b="1" dirty="0" err="1"/>
              <a:t>që</a:t>
            </a:r>
            <a:r>
              <a:rPr lang="en-US" sz="2800" b="1" dirty="0"/>
              <a:t> do </a:t>
            </a:r>
            <a:r>
              <a:rPr lang="en-US" sz="2800" b="1" dirty="0" err="1"/>
              <a:t>të</a:t>
            </a:r>
            <a:r>
              <a:rPr lang="en-US" sz="2800" b="1" dirty="0"/>
              <a:t> </a:t>
            </a:r>
            <a:r>
              <a:rPr lang="en-US" sz="2800" b="1" dirty="0" err="1"/>
              <a:t>lexojë</a:t>
            </a:r>
            <a:r>
              <a:rPr lang="en-US" sz="2800" b="1" dirty="0"/>
              <a:t> </a:t>
            </a:r>
            <a:r>
              <a:rPr lang="en-US" sz="2800" b="1" dirty="0" err="1"/>
              <a:t>dy</a:t>
            </a:r>
            <a:r>
              <a:rPr lang="en-US" sz="2800" b="1" dirty="0"/>
              <a:t> </a:t>
            </a:r>
            <a:r>
              <a:rPr lang="en-US" sz="2800" b="1" dirty="0" err="1"/>
              <a:t>brinjët</a:t>
            </a:r>
            <a:r>
              <a:rPr lang="en-US" sz="2800" b="1" dirty="0"/>
              <a:t> e </a:t>
            </a:r>
            <a:r>
              <a:rPr lang="en-US" sz="2800" b="1" dirty="0" err="1"/>
              <a:t>një</a:t>
            </a:r>
            <a:r>
              <a:rPr lang="en-US" sz="2800" b="1" dirty="0"/>
              <a:t> </a:t>
            </a:r>
            <a:r>
              <a:rPr lang="en-US" sz="2800" b="1" dirty="0" err="1"/>
              <a:t>drejtkëndëshi</a:t>
            </a:r>
            <a:r>
              <a:rPr lang="en-US" sz="2800" b="1" dirty="0"/>
              <a:t> </a:t>
            </a:r>
            <a:r>
              <a:rPr lang="en-US" sz="2800" b="1" dirty="0" err="1"/>
              <a:t>dhe</a:t>
            </a:r>
            <a:r>
              <a:rPr lang="en-US" sz="2800" b="1" dirty="0"/>
              <a:t> </a:t>
            </a:r>
            <a:r>
              <a:rPr lang="en-US" sz="2800" b="1" dirty="0" err="1"/>
              <a:t>të</a:t>
            </a:r>
            <a:r>
              <a:rPr lang="en-US" sz="2800" b="1" dirty="0"/>
              <a:t> </a:t>
            </a:r>
            <a:r>
              <a:rPr lang="en-US" sz="2800" b="1" dirty="0" err="1"/>
              <a:t>llogarisë</a:t>
            </a:r>
            <a:r>
              <a:rPr lang="en-US" sz="2800" b="1" dirty="0"/>
              <a:t> </a:t>
            </a:r>
            <a:r>
              <a:rPr lang="en-US" sz="2800" b="1" dirty="0" err="1"/>
              <a:t>sipërfaqen</a:t>
            </a:r>
            <a:r>
              <a:rPr lang="en-US" sz="2800" b="1" dirty="0"/>
              <a:t> e </a:t>
            </a:r>
            <a:r>
              <a:rPr lang="en-US" sz="2800" b="1" dirty="0" err="1"/>
              <a:t>tij</a:t>
            </a:r>
            <a:r>
              <a:rPr lang="en-US" sz="2800" b="1" dirty="0"/>
              <a:t>.</a:t>
            </a:r>
            <a:r>
              <a:rPr lang="en-US" sz="2800" dirty="0"/>
              <a:t> </a:t>
            </a:r>
            <a:endParaRPr lang="en-US" sz="2800" b="1" dirty="0"/>
          </a:p>
          <a:p>
            <a:pPr eaLnBrk="1" hangingPunct="1">
              <a:buFont typeface="Wingdings" pitchFamily="2" charset="2"/>
              <a:buNone/>
            </a:pPr>
            <a:r>
              <a:rPr lang="en-US" sz="2800" b="1" dirty="0" err="1"/>
              <a:t>Pseudokodi</a:t>
            </a:r>
            <a:r>
              <a:rPr lang="en-US" sz="2800" dirty="0"/>
              <a:t> </a:t>
            </a:r>
          </a:p>
          <a:p>
            <a:pPr eaLnBrk="1" hangingPunct="1"/>
            <a:r>
              <a:rPr lang="en-US" sz="2800" i="1" dirty="0" err="1"/>
              <a:t>Futni</a:t>
            </a:r>
            <a:r>
              <a:rPr lang="en-US" sz="2800" i="1" dirty="0"/>
              <a:t> </a:t>
            </a:r>
            <a:r>
              <a:rPr lang="en-US" sz="2800" i="1" dirty="0" err="1"/>
              <a:t>gjerësinë</a:t>
            </a:r>
            <a:r>
              <a:rPr lang="en-US" sz="2800" i="1" dirty="0"/>
              <a:t> (W) </a:t>
            </a:r>
            <a:r>
              <a:rPr lang="en-US" sz="2800" i="1" dirty="0" err="1"/>
              <a:t>dhe</a:t>
            </a:r>
            <a:r>
              <a:rPr lang="en-US" sz="2800" i="1" dirty="0"/>
              <a:t> </a:t>
            </a:r>
            <a:r>
              <a:rPr lang="en-US" sz="2800" i="1" dirty="0" err="1"/>
              <a:t>gjatësinë</a:t>
            </a:r>
            <a:r>
              <a:rPr lang="en-US" sz="2800" i="1" dirty="0"/>
              <a:t> (L) </a:t>
            </a:r>
            <a:r>
              <a:rPr lang="en-US" sz="2800" i="1" dirty="0" err="1"/>
              <a:t>të</a:t>
            </a:r>
            <a:r>
              <a:rPr lang="en-US" sz="2800" i="1" dirty="0"/>
              <a:t> </a:t>
            </a:r>
            <a:r>
              <a:rPr lang="en-US" sz="2800" i="1" dirty="0" err="1"/>
              <a:t>një</a:t>
            </a:r>
            <a:r>
              <a:rPr lang="en-US" sz="2800" i="1" dirty="0"/>
              <a:t> </a:t>
            </a:r>
            <a:r>
              <a:rPr lang="en-US" sz="2800" i="1" dirty="0" err="1"/>
              <a:t>drejtkëndëshi</a:t>
            </a:r>
            <a:endParaRPr lang="en-US" sz="2800" i="1" dirty="0"/>
          </a:p>
          <a:p>
            <a:pPr eaLnBrk="1" hangingPunct="1"/>
            <a:r>
              <a:rPr lang="en-US" sz="2800" i="1" dirty="0" err="1"/>
              <a:t>Llogaritni</a:t>
            </a:r>
            <a:r>
              <a:rPr lang="en-US" sz="2800" i="1" dirty="0"/>
              <a:t> </a:t>
            </a:r>
            <a:r>
              <a:rPr lang="en-US" sz="2800" i="1" dirty="0" err="1"/>
              <a:t>sipërfaqen</a:t>
            </a:r>
            <a:r>
              <a:rPr lang="en-US" sz="2800" i="1" dirty="0"/>
              <a:t> (A) duke </a:t>
            </a:r>
            <a:r>
              <a:rPr lang="en-US" sz="2800" i="1" dirty="0" err="1"/>
              <a:t>shumëzuar</a:t>
            </a:r>
            <a:r>
              <a:rPr lang="en-US" sz="2800" i="1" dirty="0"/>
              <a:t> L me W</a:t>
            </a:r>
          </a:p>
          <a:p>
            <a:pPr eaLnBrk="1" hangingPunct="1"/>
            <a:r>
              <a:rPr lang="en-US" sz="2800" i="1"/>
              <a:t>Printo </a:t>
            </a:r>
            <a:r>
              <a:rPr lang="en-US" sz="2800" i="1" dirty="0"/>
              <a:t>A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3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229600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/>
              <a:t>Algoritmi</a:t>
            </a:r>
            <a:r>
              <a:rPr lang="en-US"/>
              <a:t> </a:t>
            </a:r>
          </a:p>
          <a:p>
            <a:pPr eaLnBrk="1" hangingPunct="1"/>
            <a:r>
              <a:rPr lang="en-US"/>
              <a:t>Hapi 1: 	Hyrja W,L</a:t>
            </a:r>
          </a:p>
          <a:p>
            <a:pPr eaLnBrk="1" hangingPunct="1"/>
            <a:r>
              <a:rPr lang="en-US"/>
              <a:t>Hapi 2: 	A </a:t>
            </a:r>
            <a:r>
              <a:rPr lang="en-US">
                <a:sym typeface="Symbol" pitchFamily="18" charset="2"/>
              </a:rPr>
              <a:t></a:t>
            </a:r>
            <a:r>
              <a:rPr lang="en-US"/>
              <a:t> L  x  W </a:t>
            </a:r>
          </a:p>
          <a:p>
            <a:pPr eaLnBrk="1" hangingPunct="1"/>
            <a:r>
              <a:rPr lang="en-US"/>
              <a:t>Hapi 3: 	Printoo A</a:t>
            </a:r>
          </a:p>
          <a:p>
            <a:pPr eaLnBrk="1" hangingPunct="1">
              <a:buFont typeface="Wingdings" pitchFamily="2" charset="2"/>
              <a:buNone/>
            </a:pPr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Shembulli 3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10200" y="2057400"/>
            <a:ext cx="3124200" cy="4191000"/>
            <a:chOff x="2448" y="5328"/>
            <a:chExt cx="3168" cy="5779"/>
          </a:xfrm>
        </p:grpSpPr>
        <p:sp>
          <p:nvSpPr>
            <p:cNvPr id="18437" name="AutoShape 6"/>
            <p:cNvSpPr>
              <a:spLocks noChangeArrowheads="1"/>
            </p:cNvSpPr>
            <p:nvPr/>
          </p:nvSpPr>
          <p:spPr bwMode="auto">
            <a:xfrm>
              <a:off x="3337" y="5328"/>
              <a:ext cx="1440" cy="576"/>
            </a:xfrm>
            <a:prstGeom prst="flowChartTerminator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FILLIMI</a:t>
              </a:r>
              <a:endParaRPr lang="en-US" sz="1400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>
              <a:off x="4057" y="590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AutoShape 8"/>
            <p:cNvSpPr>
              <a:spLocks noChangeArrowheads="1"/>
            </p:cNvSpPr>
            <p:nvPr/>
          </p:nvSpPr>
          <p:spPr bwMode="auto">
            <a:xfrm>
              <a:off x="2448" y="6355"/>
              <a:ext cx="3168" cy="864"/>
            </a:xfrm>
            <a:prstGeom prst="flowChartInputOutput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Hyrja</a:t>
              </a:r>
            </a:p>
            <a:p>
              <a:pPr algn="ctr"/>
              <a:r>
                <a:rPr lang="en-US" sz="1400" b="1"/>
                <a:t>W, L</a:t>
              </a:r>
              <a:endParaRPr lang="en-US" sz="1400"/>
            </a:p>
          </p:txBody>
        </p:sp>
        <p:sp>
          <p:nvSpPr>
            <p:cNvPr id="18440" name="AutoShape 9"/>
            <p:cNvSpPr>
              <a:spLocks noChangeArrowheads="1"/>
            </p:cNvSpPr>
            <p:nvPr/>
          </p:nvSpPr>
          <p:spPr bwMode="auto">
            <a:xfrm>
              <a:off x="2967" y="7801"/>
              <a:ext cx="2141" cy="576"/>
            </a:xfrm>
            <a:prstGeom prst="flowChartProcess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A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400" b="1"/>
                <a:t> L x W</a:t>
              </a:r>
            </a:p>
          </p:txBody>
        </p:sp>
        <p:sp>
          <p:nvSpPr>
            <p:cNvPr id="18441" name="Line 10"/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AutoShape 11"/>
            <p:cNvSpPr>
              <a:spLocks noChangeArrowheads="1"/>
            </p:cNvSpPr>
            <p:nvPr/>
          </p:nvSpPr>
          <p:spPr bwMode="auto">
            <a:xfrm>
              <a:off x="2812" y="8947"/>
              <a:ext cx="2448" cy="1008"/>
            </a:xfrm>
            <a:prstGeom prst="flowChartDisplay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Printo</a:t>
              </a:r>
            </a:p>
            <a:p>
              <a:pPr algn="ctr"/>
              <a:r>
                <a:rPr lang="en-US" sz="1400" b="1"/>
                <a:t>A</a:t>
              </a:r>
              <a:endParaRPr lang="en-US" sz="1400"/>
            </a:p>
          </p:txBody>
        </p:sp>
        <p:sp>
          <p:nvSpPr>
            <p:cNvPr id="18443" name="AutoShape 12"/>
            <p:cNvSpPr>
              <a:spLocks noChangeArrowheads="1"/>
            </p:cNvSpPr>
            <p:nvPr/>
          </p:nvSpPr>
          <p:spPr bwMode="auto">
            <a:xfrm>
              <a:off x="3293" y="10512"/>
              <a:ext cx="1440" cy="595"/>
            </a:xfrm>
            <a:prstGeom prst="flowChartTerminator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FUNDI</a:t>
              </a:r>
              <a:endParaRPr lang="en-US" sz="1400"/>
            </a:p>
          </p:txBody>
        </p:sp>
        <p:sp>
          <p:nvSpPr>
            <p:cNvPr id="18444" name="Line 13"/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14"/>
            <p:cNvSpPr>
              <a:spLocks noChangeShapeType="1"/>
            </p:cNvSpPr>
            <p:nvPr/>
          </p:nvSpPr>
          <p:spPr bwMode="auto">
            <a:xfrm>
              <a:off x="4032" y="9955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Shembulli 4 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848600" cy="3886200"/>
          </a:xfrm>
        </p:spPr>
        <p:txBody>
          <a:bodyPr/>
          <a:lstStyle/>
          <a:p>
            <a:pPr eaLnBrk="1" hangingPunct="1"/>
            <a:r>
              <a:rPr lang="en-US" sz="2800"/>
              <a:t>Shkruani një algoritëm dhe vizatoni një diagram rrjedhës që do të llogarisë rrënjët e një ekuacioni kuadratik </a:t>
            </a:r>
          </a:p>
          <a:p>
            <a:pPr eaLnBrk="1" hangingPunct="1"/>
            <a:endParaRPr lang="en-US" sz="2800"/>
          </a:p>
          <a:p>
            <a:pPr eaLnBrk="1" hangingPunct="1"/>
            <a:r>
              <a:rPr lang="en-US" sz="2800"/>
              <a:t> Hint: </a:t>
            </a:r>
            <a:r>
              <a:rPr lang="en-US" sz="2800" b="1"/>
              <a:t>d</a:t>
            </a:r>
            <a:r>
              <a:rPr lang="en-US" sz="2800"/>
              <a:t> = sqrt (               ), and the roots are:  </a:t>
            </a:r>
            <a:r>
              <a:rPr lang="en-US" sz="2800" b="1" i="1"/>
              <a:t>x</a:t>
            </a:r>
            <a:r>
              <a:rPr lang="en-US" sz="2800" b="1"/>
              <a:t>1</a:t>
            </a:r>
            <a:r>
              <a:rPr lang="en-US" sz="2800"/>
              <a:t> = (–</a:t>
            </a:r>
            <a:r>
              <a:rPr lang="en-US" sz="2800" i="1"/>
              <a:t>b</a:t>
            </a:r>
            <a:r>
              <a:rPr lang="en-US" sz="2800"/>
              <a:t> + </a:t>
            </a:r>
            <a:r>
              <a:rPr lang="en-US" sz="2800" i="1"/>
              <a:t>d</a:t>
            </a:r>
            <a:r>
              <a:rPr lang="en-US" sz="2800"/>
              <a:t>)/2</a:t>
            </a:r>
            <a:r>
              <a:rPr lang="en-US" sz="2800" i="1"/>
              <a:t>a</a:t>
            </a:r>
            <a:r>
              <a:rPr lang="en-US" sz="2800"/>
              <a:t>   and </a:t>
            </a:r>
            <a:r>
              <a:rPr lang="en-US" sz="2800" b="1" i="1"/>
              <a:t>x</a:t>
            </a:r>
            <a:r>
              <a:rPr lang="en-US" sz="2800" b="1"/>
              <a:t>2</a:t>
            </a:r>
            <a:r>
              <a:rPr lang="en-US" sz="2800"/>
              <a:t> = (–</a:t>
            </a:r>
            <a:r>
              <a:rPr lang="en-US" sz="2800" i="1"/>
              <a:t>b</a:t>
            </a:r>
            <a:r>
              <a:rPr lang="en-US" sz="2800"/>
              <a:t> – </a:t>
            </a:r>
            <a:r>
              <a:rPr lang="en-US" sz="2800" i="1"/>
              <a:t>d</a:t>
            </a:r>
            <a:r>
              <a:rPr lang="en-US" sz="2800"/>
              <a:t>)/2</a:t>
            </a:r>
            <a:r>
              <a:rPr lang="en-US" sz="2800" i="1"/>
              <a:t>a</a:t>
            </a:r>
          </a:p>
        </p:txBody>
      </p:sp>
      <p:graphicFrame>
        <p:nvGraphicFramePr>
          <p:cNvPr id="205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95600" y="3048000"/>
          <a:ext cx="2209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03040" progId="">
                  <p:embed/>
                </p:oleObj>
              </mc:Choice>
              <mc:Fallback>
                <p:oleObj name="Equation" r:id="rId2" imgW="965160" imgH="20304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48000"/>
                        <a:ext cx="2209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33800" y="3733800"/>
          <a:ext cx="13446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">
                  <p:embed/>
                </p:oleObj>
              </mc:Choice>
              <mc:Fallback>
                <p:oleObj name="Equation" r:id="rId4" imgW="545760" imgH="20304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733800"/>
                        <a:ext cx="134461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SG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1022</Words>
  <Application>Microsoft Office PowerPoint</Application>
  <PresentationFormat>On-screen Show (4:3)</PresentationFormat>
  <Paragraphs>143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Courier New</vt:lpstr>
      <vt:lpstr>Lucida Sans Unicode</vt:lpstr>
      <vt:lpstr>Symbol</vt:lpstr>
      <vt:lpstr>Times New Roman</vt:lpstr>
      <vt:lpstr>Verdana</vt:lpstr>
      <vt:lpstr>Wingdings</vt:lpstr>
      <vt:lpstr>Wingdings 2</vt:lpstr>
      <vt:lpstr>Wingdings 3</vt:lpstr>
      <vt:lpstr>Concourse</vt:lpstr>
      <vt:lpstr>Visio</vt:lpstr>
      <vt:lpstr>Equation</vt:lpstr>
      <vt:lpstr>Algoritmike dhe programim i avancuar</vt:lpstr>
      <vt:lpstr>ALGORITMET DHE DIAGRAMET RRJEDHËSE </vt:lpstr>
      <vt:lpstr>Përkufizimi i Algoritmit</vt:lpstr>
      <vt:lpstr>Gjuhë Natyrale</vt:lpstr>
      <vt:lpstr>Gjuhë Formale Programimi</vt:lpstr>
      <vt:lpstr>Pseudokod</vt:lpstr>
      <vt:lpstr>Hapat në Zgjidhjen e Problemit</vt:lpstr>
      <vt:lpstr>Pseudokodi &amp; Algoritmi</vt:lpstr>
      <vt:lpstr>Pseudokodi &amp; Algoritmi</vt:lpstr>
      <vt:lpstr>Pseudokodi &amp; Algoritmi</vt:lpstr>
      <vt:lpstr>Diagrami Rrjedhës</vt:lpstr>
      <vt:lpstr>Diagrami Rrjedhës</vt:lpstr>
      <vt:lpstr>Simbolet e Diagramit Rrjedhës </vt:lpstr>
      <vt:lpstr>Shembull</vt:lpstr>
      <vt:lpstr>Shembulli 2</vt:lpstr>
      <vt:lpstr>Shembulli 2</vt:lpstr>
      <vt:lpstr>Shembulli 3 </vt:lpstr>
      <vt:lpstr>Shembulli 3</vt:lpstr>
      <vt:lpstr>Shembulli 4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FLOWCHARTS </dc:title>
  <dc:creator>Marin</dc:creator>
  <cp:lastModifiedBy>Marin Aranitasi</cp:lastModifiedBy>
  <cp:revision>12</cp:revision>
  <dcterms:created xsi:type="dcterms:W3CDTF">2013-12-05T19:33:21Z</dcterms:created>
  <dcterms:modified xsi:type="dcterms:W3CDTF">2026-04-22T11:28:20Z</dcterms:modified>
</cp:coreProperties>
</file>