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65994-E4AC-4818-88DE-CAD0F614A1F3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61EFD-9818-4786-BD98-16F7019556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74D190-F847-4D4F-8066-BE5CD267C5EA}" type="slidenum">
              <a:rPr lang="en-US"/>
              <a:pPr/>
              <a:t>1</a:t>
            </a:fld>
            <a:endParaRPr lang="en-US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FAB437-8E5C-4986-8C2C-57F043825171}" type="slidenum">
              <a:rPr lang="en-US"/>
              <a:pPr/>
              <a:t>2</a:t>
            </a:fld>
            <a:endParaRPr lang="en-US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799ABC-79A6-41E5-8A00-937E1A63B108}" type="slidenum">
              <a:rPr lang="en-US"/>
              <a:pPr/>
              <a:t>3</a:t>
            </a:fld>
            <a:endParaRPr lang="en-US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1852B90-4592-46C7-8A4B-B07EA8E4115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187F1B9-B6D3-4DBD-8DA4-7B4B2C614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63004" y="2350366"/>
            <a:ext cx="5770851" cy="14700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/>
              <a:t>Simple sorting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64710" y="3893560"/>
            <a:ext cx="7049799" cy="1414462"/>
          </a:xfrm>
        </p:spPr>
        <p:txBody>
          <a:bodyPr>
            <a:normAutofit lnSpcReduction="10000"/>
          </a:bodyPr>
          <a:lstStyle/>
          <a:p>
            <a:pPr algn="ctr" eaLnBrk="1" hangingPunct="1"/>
            <a:r>
              <a:rPr lang="en-US" dirty="0" err="1"/>
              <a:t>Leksion</a:t>
            </a:r>
            <a:r>
              <a:rPr lang="en-US" dirty="0"/>
              <a:t> 6</a:t>
            </a:r>
          </a:p>
          <a:p>
            <a:pPr algn="ctr" eaLnBrk="1" hangingPunct="1"/>
            <a:endParaRPr lang="en-US" dirty="0"/>
          </a:p>
          <a:p>
            <a:pPr eaLnBrk="1" hangingPunct="1"/>
            <a:r>
              <a:rPr lang="en-US" dirty="0"/>
              <a:t>Marin </a:t>
            </a:r>
            <a:r>
              <a:rPr lang="en-US" dirty="0" err="1"/>
              <a:t>Aranitasi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728663" y="1281113"/>
            <a:ext cx="8308975" cy="51958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Organizimi i Metodave Java që Renditin një Varg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Bubble sorting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Renditja Iterative me Flluskë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Efikasiteti i Renditjes me Zgjedhje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Selection Sorting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Renditja Iterative me Zgjedhje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Efikasiteti i Renditjes me Zgjedhje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Insertion Sorting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Renditja Iterative me Futje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Efikasiteti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Renditjes me Futje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Renditja me Futje e një Zinxhiri Nyjesh të Lidhura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Përmbajtja e Kapitullit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28663" y="1281113"/>
            <a:ext cx="8308975" cy="5394325"/>
          </a:xfrm>
        </p:spPr>
        <p:txBody>
          <a:bodyPr/>
          <a:lstStyle/>
          <a:p>
            <a:pPr eaLnBrk="1" hangingPunct="1"/>
            <a:r>
              <a:rPr lang="en-US" dirty="0"/>
              <a:t>Renditja Shell</a:t>
            </a:r>
          </a:p>
          <a:p>
            <a:pPr lvl="1" eaLnBrk="1" hangingPunct="1"/>
            <a:r>
              <a:rPr lang="en-US" dirty="0"/>
              <a:t>Kodi Java</a:t>
            </a:r>
          </a:p>
          <a:p>
            <a:pPr lvl="1" eaLnBrk="1" hangingPunct="1"/>
            <a:r>
              <a:rPr lang="en-US" dirty="0"/>
              <a:t>Efikasiteti i Renditjes Shell</a:t>
            </a:r>
          </a:p>
          <a:p>
            <a:pPr eaLnBrk="1" hangingPunct="1"/>
            <a:r>
              <a:rPr lang="en-US" dirty="0"/>
              <a:t>Krahasimi i Algoritmeve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Përmbajtja e Kapitullit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194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Sapo krijoni një bazë të dhënash të rëndësishme, me siguri do të mendoni për arsye ta renditni në mënyra të ndryshme. </a:t>
            </a:r>
          </a:p>
          <a:p>
            <a:r>
              <a:rPr lang="en-US" dirty="0"/>
              <a:t>Duhet të rregulloni emrat në rend alfabetik ose:</a:t>
            </a:r>
          </a:p>
          <a:p>
            <a:pPr lvl="1"/>
            <a:r>
              <a:rPr lang="en-US" dirty="0"/>
              <a:t>nxënës sipas notës,</a:t>
            </a:r>
          </a:p>
          <a:p>
            <a:pPr lvl="1"/>
            <a:r>
              <a:rPr lang="en-US" dirty="0"/>
              <a:t>klientë sipas kodit postar,</a:t>
            </a:r>
          </a:p>
          <a:p>
            <a:pPr lvl="1"/>
            <a:r>
              <a:rPr lang="en-US" dirty="0"/>
              <a:t>shitje shtëpish sipas çmimit,</a:t>
            </a:r>
          </a:p>
          <a:p>
            <a:pPr lvl="1"/>
            <a:r>
              <a:rPr lang="en-US" dirty="0"/>
              <a:t>qytete sipas popullsisë në rritje,</a:t>
            </a:r>
          </a:p>
          <a:p>
            <a:pPr lvl="1"/>
            <a:r>
              <a:rPr lang="en-US" dirty="0"/>
              <a:t>vende sipas PBB-së,</a:t>
            </a:r>
          </a:p>
          <a:p>
            <a:pPr lvl="1"/>
            <a:r>
              <a:rPr lang="en-US" dirty="0"/>
              <a:t>yje sipas</a:t>
            </a:r>
          </a:p>
          <a:p>
            <a:pPr lvl="1"/>
            <a:r>
              <a:rPr lang="en-US" dirty="0"/>
              <a:t>madhësisë, dhe kështu me radhë.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Hyrje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Imagjinoni që ekipi juaj i beizbollit i fëmijëve është i rreshtuar në fushë. Doni t'i rregulloni lojtarët sipas lartësisë në rritje (me lojtarin më të shkurtër në të majtë) për foton e ekipit. Si do ta kryenit këtë proces renditjeje?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Renditja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38600"/>
            <a:ext cx="9144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47670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 qenie njerëzore, keni avantazhe ndaj një programi kompjuterik. </a:t>
            </a:r>
          </a:p>
          <a:p>
            <a:r>
              <a:rPr lang="en-US" dirty="0"/>
              <a:t>Mund t'i shihni të gjithë fëmijët menjëherë dhe mund të identifikoni fëmijën më të gjatë pothuajse çastit. </a:t>
            </a:r>
          </a:p>
          <a:p>
            <a:r>
              <a:rPr lang="en-US" dirty="0"/>
              <a:t>Nuk keni nevojë të matni dhe krahasoni me mundim të gjithë. </a:t>
            </a:r>
          </a:p>
          <a:p>
            <a:r>
              <a:rPr lang="en-US" dirty="0"/>
              <a:t>Gjithashtu, fëmijët nuk kanë nevojë të zënë vende të caktuara. Ata mund të grinden me njëri-tjetrin, të shtyjnë pak për të bërë hapësirë, dhe të qëndrojnë pas ose para njëri-tjetrit. Pas disa rirregullimeve spontane, nuk do të kishit vështirësi t'i rreshtoni të gjithë fëmijët.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95800"/>
            <a:ext cx="914399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Një program kompjuterik nuk është në gjendje të shikojë të dhënat në këtë mënyrë. </a:t>
            </a:r>
          </a:p>
          <a:p>
            <a:r>
              <a:rPr lang="en-US" dirty="0"/>
              <a:t>Ai mund të krahasojë vetëm dy lojtarë njëherësh, sepse kështu funksionojnë operatorët e krahasimit.</a:t>
            </a:r>
          </a:p>
          <a:p>
            <a:r>
              <a:rPr lang="en-US" dirty="0"/>
              <a:t>Të tre algoritmet në këtë kapitull përfshijnë dy hapa, të ekzekutuar vazhdimisht derisa të dhënat të jenë renditur: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Krahaso dy artikuj.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Ndërro dy artikuj, ose kopjo një artikull.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Renditja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Renditja me flluskë është famëkeqe për ngadalësinë e saj, por konceptualisht është më e thjeshta nga algoritmet e renditjes dhe për këtë arsye është një fillim i mirë për eksplorimin e teknikave të renditjes.</a:t>
            </a:r>
          </a:p>
          <a:p>
            <a:r>
              <a:rPr lang="en-US" dirty="0"/>
              <a:t>Imagjinoni që jeni miop (si një program kompjuterik) kështu që mund të shihni vetëm dy lojtarë beizbolli njëherësh, nëse janë pranë njëri-tjetrit dhe nëse qëndroni shumë afër tyre.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Renditja me Flluskë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2"/>
          </a:xfrm>
        </p:spPr>
        <p:txBody>
          <a:bodyPr>
            <a:normAutofit/>
          </a:bodyPr>
          <a:lstStyle/>
          <a:p>
            <a:r>
              <a:rPr lang="en-US" dirty="0"/>
              <a:t>Le të supozojmë se ka N lojtarë dhe pozicionet ku qëndrojnë janë të numëruara nga 0 në të majtë deri në N-1 në të djathtë.</a:t>
            </a:r>
          </a:p>
          <a:p>
            <a:r>
              <a:rPr lang="en-US" dirty="0"/>
              <a:t>Rutina e renditjes me flluskë funksionon si vijon: </a:t>
            </a:r>
          </a:p>
          <a:p>
            <a:pPr lvl="1"/>
            <a:r>
              <a:rPr lang="en-US" dirty="0"/>
              <a:t>Filloni nga ana e majtë e radhës dhe krahasoni dy fëmijët në pozicionet 0 dhe 1. Nëse ai në të majtë (në 0) është më i gjatë, i ndërroni. Nëse ai në të djathtë është më i gjatë, nuk bëni asgjë. Pastaj lëvizni një pozicion dhe krahasoni fëmijët në pozicionet 1 dhe 2. Sërish, nëse ai në të majtë është më i gjatë, i ndërroni.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Renditja me Flluskë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Vazhdoni kështu nëpër radhë derisa të arrini fundin e djathtë.</a:t>
            </a:r>
          </a:p>
          <a:p>
            <a:r>
              <a:rPr lang="en-US" dirty="0"/>
              <a:t> Nuk e keni mbaruar aspak renditjen e fëmijëve, por e dini që fëmija më i gjatë është në të djathtë. </a:t>
            </a:r>
          </a:p>
          <a:p>
            <a:r>
              <a:rPr lang="en-US" dirty="0"/>
              <a:t>Kjo duhet të jetë e vërtetë sepse, sapo hasni fëmijën më të gjatë, do ta ndërroni atë çdo herë që krahasoni dy fëmijë, derisa ai (ose ajo) të arrijë fundin e djathtë të radhës.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91000"/>
            <a:ext cx="9144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Programi Java faqja 85 e librit !!!!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Renditja me Flluskë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/>
          </a:bodyPr>
          <a:lstStyle/>
          <a:p>
            <a:r>
              <a:rPr lang="en-US" dirty="0"/>
              <a:t>public void </a:t>
            </a:r>
            <a:r>
              <a:rPr lang="en-US" dirty="0" err="1"/>
              <a:t>bubbleSort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 err="1"/>
              <a:t>int</a:t>
            </a:r>
            <a:r>
              <a:rPr lang="en-US" dirty="0"/>
              <a:t> out, in;</a:t>
            </a:r>
          </a:p>
          <a:p>
            <a:r>
              <a:rPr lang="en-US" dirty="0"/>
              <a:t>for(out=nElems-1; out&gt;1; out--) // cikli i jashtëm (prapa)</a:t>
            </a:r>
          </a:p>
          <a:p>
            <a:r>
              <a:rPr lang="en-US" dirty="0"/>
              <a:t>for(in=0; in&lt;out; in++) // cikli i brendshëm (përpara)</a:t>
            </a:r>
          </a:p>
          <a:p>
            <a:r>
              <a:rPr lang="en-US" dirty="0"/>
              <a:t>if( a[in] &gt; a[in+1] ) // jashtë rendit?</a:t>
            </a:r>
          </a:p>
          <a:p>
            <a:r>
              <a:rPr lang="en-US" dirty="0"/>
              <a:t>swap(in, in+1); // ndërroji ato</a:t>
            </a:r>
          </a:p>
          <a:p>
            <a:r>
              <a:rPr lang="en-US" dirty="0"/>
              <a:t>} // fundi </a:t>
            </a:r>
            <a:r>
              <a:rPr lang="en-US" dirty="0" err="1"/>
              <a:t>bubbleSort</a:t>
            </a:r>
            <a:r>
              <a:rPr lang="en-US" dirty="0"/>
              <a:t>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Metoda e Renditjes me Flluskë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2"/>
          </a:xfrm>
        </p:spPr>
        <p:txBody>
          <a:bodyPr>
            <a:normAutofit/>
          </a:bodyPr>
          <a:lstStyle/>
          <a:p>
            <a:r>
              <a:rPr lang="en-US" dirty="0"/>
              <a:t>Ideja është të vendoset </a:t>
            </a:r>
            <a:r>
              <a:rPr lang="en-US" b="1" dirty="0"/>
              <a:t>artikulli më i vogël në fillim të vargut </a:t>
            </a:r>
            <a:r>
              <a:rPr lang="en-US" dirty="0"/>
              <a:t>(indeksi 0) dhe </a:t>
            </a:r>
          </a:p>
          <a:p>
            <a:r>
              <a:rPr lang="en-US" dirty="0"/>
              <a:t>Ai </a:t>
            </a:r>
            <a:r>
              <a:rPr lang="en-US" b="1" dirty="0"/>
              <a:t>më i madh në fund </a:t>
            </a:r>
            <a:r>
              <a:rPr lang="en-US" dirty="0"/>
              <a:t>(indeksi nElems-1). </a:t>
            </a:r>
          </a:p>
          <a:p>
            <a:r>
              <a:rPr lang="en-US" dirty="0"/>
              <a:t>Numëruesi i ciklit </a:t>
            </a:r>
            <a:r>
              <a:rPr lang="en-US" b="1" dirty="0"/>
              <a:t>out</a:t>
            </a:r>
            <a:r>
              <a:rPr lang="en-US" dirty="0"/>
              <a:t> në ciklin e jashtëm for fillon nga fundi i vargut, tek nElems-1, dhe zvogëlohet çdo herë nëpër ciklin. Artikujt me indeks më të madh se out janë gjithmonë plotësisht të renditur. </a:t>
            </a:r>
          </a:p>
          <a:p>
            <a:r>
              <a:rPr lang="en-US" dirty="0"/>
              <a:t>Ndryshorja out lëviz majtas pas çdo kalimi të in, kështu që artikujt e renditur tashmë nuk janë më të përfshirë në algoritëm.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Metoda e Renditjes me Flluskë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Numëruesi i ciklit të brendshëm </a:t>
            </a:r>
            <a:r>
              <a:rPr lang="en-US" b="1" dirty="0"/>
              <a:t>in</a:t>
            </a:r>
            <a:r>
              <a:rPr lang="en-US" dirty="0"/>
              <a:t> fillon nga fillimi i vargut dhe rrit veten çdo cikël të ciklit të brendshëm, duke dalë kur arrin out. </a:t>
            </a:r>
          </a:p>
          <a:p>
            <a:r>
              <a:rPr lang="en-US" dirty="0"/>
              <a:t>Brenda ciklit të brendshëm, dy qelizat e vargut të treguar nga in dhe in+1 krahasohen, dhe ndërrohen nëse ai në </a:t>
            </a:r>
            <a:r>
              <a:rPr lang="en-US" b="1" i="1" dirty="0"/>
              <a:t>in</a:t>
            </a:r>
            <a:r>
              <a:rPr lang="en-US" dirty="0"/>
              <a:t> është më i madh se ai në </a:t>
            </a:r>
            <a:r>
              <a:rPr lang="en-US" b="1" i="1" dirty="0"/>
              <a:t>in+1</a:t>
            </a:r>
            <a:r>
              <a:rPr lang="en-US" dirty="0"/>
              <a:t>.</a:t>
            </a:r>
          </a:p>
          <a:p>
            <a:r>
              <a:rPr lang="en-US" dirty="0"/>
              <a:t>Për qartësi, përdorim një metodë të veçantë swap() për të kryer ndërrimin. Ajo thjesht ndërron dy vlerat në dy qelizat e vargut.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Metoda e Renditjes me Flluskë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/>
              <a:t>Shigjetat inner dhe inner+1 bëjnë nëntë krahasime në kalimin e parë, tetë në të dytin, e kështu me radhë, deri në një krahasim në kalimin e fundit. Për 10 artikuj, kjo është:</a:t>
            </a:r>
          </a:p>
          <a:p>
            <a:pPr algn="ctr">
              <a:buNone/>
            </a:pPr>
            <a:r>
              <a:rPr lang="en-US" dirty="0"/>
              <a:t>9 + 8 + 7 + 6 + 5 + 4 + 3 + 2 + 1 = 45</a:t>
            </a:r>
          </a:p>
          <a:p>
            <a:r>
              <a:rPr lang="en-US" dirty="0"/>
              <a:t>Në përgjithësi, ku </a:t>
            </a:r>
            <a:r>
              <a:rPr lang="en-US" b="1" dirty="0"/>
              <a:t>N është numri i artikujve </a:t>
            </a:r>
            <a:r>
              <a:rPr lang="en-US" dirty="0"/>
              <a:t>në varg, ka </a:t>
            </a:r>
            <a:r>
              <a:rPr lang="en-US" b="1" dirty="0"/>
              <a:t>N-1 krahasime </a:t>
            </a:r>
            <a:r>
              <a:rPr lang="en-US" dirty="0"/>
              <a:t>në kalimin e parë, </a:t>
            </a:r>
            <a:r>
              <a:rPr lang="en-US" b="1" dirty="0"/>
              <a:t>N-2 në të dytin</a:t>
            </a:r>
            <a:r>
              <a:rPr lang="en-US" dirty="0"/>
              <a:t>, dhe kështu me radhë. Formula për shumën e një serie të tillë është:</a:t>
            </a:r>
          </a:p>
          <a:p>
            <a:pPr algn="ctr">
              <a:buNone/>
            </a:pPr>
            <a:r>
              <a:rPr lang="pt-BR" dirty="0"/>
              <a:t>(N–1) + (N–2) + (N–3) + ... + 1 = N*(N–1)/2</a:t>
            </a:r>
          </a:p>
          <a:p>
            <a:pPr algn="ctr">
              <a:buNone/>
            </a:pPr>
            <a:r>
              <a:rPr lang="en-US" dirty="0"/>
              <a:t>N*(N–1)/2 është 45 (10*9/2) kur N është 10.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Efikasiteti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800600"/>
            <a:ext cx="7467600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Kështu, algoritmi bën rreth N²/2 krahasime (duke injoruar –1, i cili nuk bën shumë ndryshim, veçanërisht nëse N është i madh).</a:t>
            </a:r>
          </a:p>
          <a:p>
            <a:r>
              <a:rPr lang="en-US" dirty="0"/>
              <a:t>Ka më pak ndërrime sesa krahasime, sepse dy shirita ndërrohen vetëm nëse është e nevojshme. Nëse të dhënat janë të rastësishme, një ndërrim është i nevojshëm rreth gjysmën e herëve, kështu do të ketë rreth N²/4 ndërrime.</a:t>
            </a:r>
          </a:p>
          <a:p>
            <a:r>
              <a:rPr lang="en-US" dirty="0"/>
              <a:t>Si ndërrimet ashtu edhe krahasimet janë proporcionale me N². Meqenëse konstantet nuk llogariten në notacionin Big O, mund të injorojmë 2-shin dhe 4-shin dhe të themi se renditja me flluskë ekzekutohet në kohë O(N²).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Efikasiteti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1447800"/>
            <a:ext cx="5143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3886200"/>
            <a:ext cx="5667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5410200"/>
            <a:ext cx="752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178</TotalTime>
  <Words>1145</Words>
  <Application>Microsoft Office PowerPoint</Application>
  <PresentationFormat>On-screen Show (4:3)</PresentationFormat>
  <Paragraphs>86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Lucida Sans Unicode</vt:lpstr>
      <vt:lpstr>Verdana</vt:lpstr>
      <vt:lpstr>Wingdings 2</vt:lpstr>
      <vt:lpstr>Wingdings 3</vt:lpstr>
      <vt:lpstr>Concourse</vt:lpstr>
      <vt:lpstr>Simple sorting</vt:lpstr>
      <vt:lpstr>Përmbajtja e Kapitullit</vt:lpstr>
      <vt:lpstr>Përmbajtja e Kapitullit</vt:lpstr>
      <vt:lpstr>Hyrje</vt:lpstr>
      <vt:lpstr>Renditja </vt:lpstr>
      <vt:lpstr>PowerPoint Presentation</vt:lpstr>
      <vt:lpstr>Renditja</vt:lpstr>
      <vt:lpstr>Renditja me Flluskë</vt:lpstr>
      <vt:lpstr>Renditja me Flluskë</vt:lpstr>
      <vt:lpstr>PowerPoint Presentation</vt:lpstr>
      <vt:lpstr>PowerPoint Presentation</vt:lpstr>
      <vt:lpstr>PowerPoint Presentation</vt:lpstr>
      <vt:lpstr>Renditja me Flluskë </vt:lpstr>
      <vt:lpstr>Metoda e Renditjes me Flluskë</vt:lpstr>
      <vt:lpstr>Metoda e Renditjes me Flluskë</vt:lpstr>
      <vt:lpstr>Metoda e Renditjes me Flluskë</vt:lpstr>
      <vt:lpstr>Efikasiteti</vt:lpstr>
      <vt:lpstr>Efikasiteti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Sorting</dc:title>
  <dc:creator>Marin</dc:creator>
  <cp:lastModifiedBy>Marin Aranitasi</cp:lastModifiedBy>
  <cp:revision>65</cp:revision>
  <dcterms:created xsi:type="dcterms:W3CDTF">2013-12-11T08:31:45Z</dcterms:created>
  <dcterms:modified xsi:type="dcterms:W3CDTF">2026-04-22T11:41:09Z</dcterms:modified>
</cp:coreProperties>
</file>