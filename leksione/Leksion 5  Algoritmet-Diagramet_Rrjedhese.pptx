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89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2" r:id="rId13"/>
    <p:sldId id="283" r:id="rId14"/>
    <p:sldId id="288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0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BD6E94F9-A4E1-4D3A-B28E-750A6D0574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B701C1-3A38-4922-A5EC-6F701B6B11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55EAD2-2C24-439F-8F88-DAA2D16600F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7C01E4-0D39-4C3F-B074-A75840D9186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113DB-7BCB-4EBD-A58D-AB63A3EBB3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E21E15-CFAE-4140-B6FC-7B106CB8F0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161329-6F51-40B6-B57F-7F9345125B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166036-D94D-40B8-B571-5FC11316C2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C30B4DF7-DD4E-487A-AD2E-85D9F44539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A66E2-6686-4D67-9BC0-BE81FA988D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9C51E1-3341-4CFF-BF90-83E1946D3B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E73B2-FC1B-4C64-9DDB-09C3BD2F4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en-SG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436C5-268D-4838-B8BE-97400491A9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DADDACB5-16CE-46FA-9745-F7EB57AC9A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2" r:id="rId12"/>
    <p:sldLayoutId id="2147483723" r:id="rId13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ALGORITHMS AND FLOWCHARTS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09943" y="3962400"/>
            <a:ext cx="7772400" cy="1199704"/>
          </a:xfrm>
        </p:spPr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Asoc</a:t>
            </a:r>
            <a:r>
              <a:rPr lang="en-US" dirty="0"/>
              <a:t>. Marin Aranitasi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/>
              <a:t>Pseudocode</a:t>
            </a:r>
            <a:r>
              <a:rPr lang="en-US" dirty="0"/>
              <a:t>: </a:t>
            </a:r>
          </a:p>
          <a:p>
            <a:pPr eaLnBrk="1" hangingPunct="1">
              <a:lnSpc>
                <a:spcPct val="90000"/>
              </a:lnSpc>
            </a:pPr>
            <a:r>
              <a:rPr lang="en-US" i="1" dirty="0" err="1"/>
              <a:t>Futni</a:t>
            </a:r>
            <a:r>
              <a:rPr lang="en-US" i="1" dirty="0"/>
              <a:t> </a:t>
            </a:r>
            <a:r>
              <a:rPr lang="en-US" i="1" dirty="0" err="1"/>
              <a:t>koeficientët</a:t>
            </a:r>
            <a:r>
              <a:rPr lang="en-US" i="1" dirty="0"/>
              <a:t> (a, b, c) </a:t>
            </a:r>
            <a:r>
              <a:rPr lang="en-US" i="1" dirty="0" err="1"/>
              <a:t>të</a:t>
            </a:r>
            <a:r>
              <a:rPr lang="en-US" i="1" dirty="0"/>
              <a:t> </a:t>
            </a:r>
            <a:r>
              <a:rPr lang="en-US" i="1" dirty="0" err="1"/>
              <a:t>ekuacionit</a:t>
            </a:r>
            <a:r>
              <a:rPr lang="en-US" i="1" dirty="0"/>
              <a:t> </a:t>
            </a:r>
            <a:r>
              <a:rPr lang="en-US" i="1" dirty="0" err="1"/>
              <a:t>kuadratik</a:t>
            </a:r>
            <a:endParaRPr lang="en-US" i="1" dirty="0"/>
          </a:p>
          <a:p>
            <a:pPr eaLnBrk="1" hangingPunct="1">
              <a:lnSpc>
                <a:spcPct val="90000"/>
              </a:lnSpc>
            </a:pPr>
            <a:r>
              <a:rPr lang="en-US" i="1" dirty="0" err="1"/>
              <a:t>Llogarit</a:t>
            </a:r>
            <a:r>
              <a:rPr lang="en-US" i="1" dirty="0"/>
              <a:t>  </a:t>
            </a:r>
            <a:r>
              <a:rPr lang="en-US" b="1" dirty="0"/>
              <a:t>d</a:t>
            </a:r>
          </a:p>
          <a:p>
            <a:pPr>
              <a:lnSpc>
                <a:spcPct val="90000"/>
              </a:lnSpc>
            </a:pPr>
            <a:r>
              <a:rPr lang="en-US" i="1" dirty="0" err="1"/>
              <a:t>Llogarit</a:t>
            </a:r>
            <a:r>
              <a:rPr lang="en-US" i="1" dirty="0"/>
              <a:t>  </a:t>
            </a:r>
            <a:r>
              <a:rPr lang="en-US" b="1" i="1" dirty="0"/>
              <a:t>x</a:t>
            </a:r>
            <a:r>
              <a:rPr lang="en-US" b="1" dirty="0"/>
              <a:t>1</a:t>
            </a:r>
            <a:endParaRPr lang="en-US" b="1" i="1" dirty="0"/>
          </a:p>
          <a:p>
            <a:pPr>
              <a:lnSpc>
                <a:spcPct val="90000"/>
              </a:lnSpc>
            </a:pPr>
            <a:r>
              <a:rPr lang="en-US" i="1" dirty="0" err="1"/>
              <a:t>Llogarit</a:t>
            </a:r>
            <a:r>
              <a:rPr lang="en-US" i="1" dirty="0"/>
              <a:t> </a:t>
            </a:r>
            <a:r>
              <a:rPr lang="en-US" b="1" dirty="0"/>
              <a:t>x2</a:t>
            </a:r>
            <a:endParaRPr lang="en-US" b="1" i="1" dirty="0"/>
          </a:p>
          <a:p>
            <a:pPr eaLnBrk="1" hangingPunct="1">
              <a:lnSpc>
                <a:spcPct val="90000"/>
              </a:lnSpc>
            </a:pPr>
            <a:r>
              <a:rPr lang="en-US" i="1" dirty="0"/>
              <a:t>Printo </a:t>
            </a:r>
            <a:r>
              <a:rPr lang="en-US" dirty="0"/>
              <a:t>x</a:t>
            </a:r>
            <a:r>
              <a:rPr lang="en-US" i="1" dirty="0"/>
              <a:t>1 and </a:t>
            </a:r>
            <a:r>
              <a:rPr lang="en-US" dirty="0"/>
              <a:t>x2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Shembulli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4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5715000" cy="3886200"/>
          </a:xfrm>
        </p:spPr>
        <p:txBody>
          <a:bodyPr/>
          <a:lstStyle/>
          <a:p>
            <a:pPr eaLnBrk="1" hangingPunct="1"/>
            <a:r>
              <a:rPr lang="en-US" sz="2800" b="1"/>
              <a:t>Algorithm</a:t>
            </a:r>
            <a:r>
              <a:rPr lang="en-US" sz="2800"/>
              <a:t>: </a:t>
            </a:r>
          </a:p>
          <a:p>
            <a:pPr eaLnBrk="1" hangingPunct="1"/>
            <a:r>
              <a:rPr lang="en-US" sz="2000"/>
              <a:t>Hapi 1: 	Hyrja a, b, c</a:t>
            </a:r>
          </a:p>
          <a:p>
            <a:pPr eaLnBrk="1" hangingPunct="1"/>
            <a:r>
              <a:rPr lang="en-US" sz="2000"/>
              <a:t>Hapi 2: 	</a:t>
            </a:r>
            <a:r>
              <a:rPr lang="en-US" sz="2000" i="1"/>
              <a:t>d</a:t>
            </a:r>
            <a:r>
              <a:rPr lang="en-US" sz="2000"/>
              <a:t>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sqrt (                           )</a:t>
            </a:r>
          </a:p>
          <a:p>
            <a:pPr eaLnBrk="1" hangingPunct="1"/>
            <a:r>
              <a:rPr lang="en-US" sz="2000"/>
              <a:t>Hapi 3: 	</a:t>
            </a:r>
            <a:r>
              <a:rPr lang="en-US" sz="2000" i="1"/>
              <a:t>x</a:t>
            </a:r>
            <a:r>
              <a:rPr lang="en-US" sz="2000"/>
              <a:t>1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(–</a:t>
            </a:r>
            <a:r>
              <a:rPr lang="en-US" sz="2000" i="1"/>
              <a:t>b</a:t>
            </a:r>
            <a:r>
              <a:rPr lang="en-US" sz="2000"/>
              <a:t> + </a:t>
            </a:r>
            <a:r>
              <a:rPr lang="en-US" sz="2000" i="1"/>
              <a:t>d</a:t>
            </a:r>
            <a:r>
              <a:rPr lang="en-US" sz="2000"/>
              <a:t>) / (2 x </a:t>
            </a:r>
            <a:r>
              <a:rPr lang="en-US" sz="2000" i="1"/>
              <a:t>a</a:t>
            </a:r>
            <a:r>
              <a:rPr lang="en-US" sz="2000"/>
              <a:t>)</a:t>
            </a:r>
          </a:p>
          <a:p>
            <a:pPr eaLnBrk="1" hangingPunct="1"/>
            <a:r>
              <a:rPr lang="en-US" sz="2000"/>
              <a:t>Hapi 4: 	</a:t>
            </a:r>
            <a:r>
              <a:rPr lang="en-US" sz="2000" i="1"/>
              <a:t>x</a:t>
            </a:r>
            <a:r>
              <a:rPr lang="en-US" sz="2000"/>
              <a:t>2 </a:t>
            </a:r>
            <a:r>
              <a:rPr lang="en-US" sz="2000">
                <a:sym typeface="Symbol" pitchFamily="18" charset="2"/>
              </a:rPr>
              <a:t></a:t>
            </a:r>
            <a:r>
              <a:rPr lang="en-US" sz="2000"/>
              <a:t> (–</a:t>
            </a:r>
            <a:r>
              <a:rPr lang="en-US" sz="2000" i="1"/>
              <a:t>b</a:t>
            </a:r>
            <a:r>
              <a:rPr lang="en-US" sz="2000"/>
              <a:t> – </a:t>
            </a:r>
            <a:r>
              <a:rPr lang="en-US" sz="2000" i="1"/>
              <a:t>d</a:t>
            </a:r>
            <a:r>
              <a:rPr lang="en-US" sz="2000"/>
              <a:t>) / (2 x </a:t>
            </a:r>
            <a:r>
              <a:rPr lang="en-US" sz="2000" i="1"/>
              <a:t>a</a:t>
            </a:r>
            <a:r>
              <a:rPr lang="en-US" sz="2000"/>
              <a:t>)</a:t>
            </a:r>
          </a:p>
          <a:p>
            <a:pPr eaLnBrk="1" hangingPunct="1"/>
            <a:r>
              <a:rPr lang="en-US" sz="2000"/>
              <a:t>Hapi 5: 	Printo </a:t>
            </a:r>
            <a:r>
              <a:rPr lang="en-US" sz="2000" i="1"/>
              <a:t>x</a:t>
            </a:r>
            <a:r>
              <a:rPr lang="en-US" sz="2000"/>
              <a:t>1, </a:t>
            </a:r>
            <a:r>
              <a:rPr lang="en-US" sz="2000" i="1"/>
              <a:t>x</a:t>
            </a:r>
            <a:r>
              <a:rPr lang="en-US" sz="2000"/>
              <a:t>2</a:t>
            </a:r>
          </a:p>
          <a:p>
            <a:pPr eaLnBrk="1" hangingPunct="1"/>
            <a:endParaRPr lang="en-US" sz="2000"/>
          </a:p>
        </p:txBody>
      </p:sp>
      <p:graphicFrame>
        <p:nvGraphicFramePr>
          <p:cNvPr id="3074" name="Object 18"/>
          <p:cNvGraphicFramePr>
            <a:graphicFrameLocks noGrp="1" noChangeAspect="1"/>
          </p:cNvGraphicFramePr>
          <p:nvPr>
            <p:ph sz="half" idx="2"/>
          </p:nvPr>
        </p:nvGraphicFramePr>
        <p:xfrm>
          <a:off x="3570288" y="2895600"/>
          <a:ext cx="17637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914400" imgH="177480" progId="">
                  <p:embed/>
                </p:oleObj>
              </mc:Choice>
              <mc:Fallback>
                <p:oleObj name="Equation" r:id="rId2" imgW="914400" imgH="177480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2895600"/>
                        <a:ext cx="17637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7" name="Group 4"/>
          <p:cNvGrpSpPr>
            <a:grpSpLocks/>
          </p:cNvGrpSpPr>
          <p:nvPr/>
        </p:nvGrpSpPr>
        <p:grpSpPr bwMode="auto">
          <a:xfrm>
            <a:off x="5943600" y="1676400"/>
            <a:ext cx="2743200" cy="4572000"/>
            <a:chOff x="2467" y="7993"/>
            <a:chExt cx="3168" cy="5994"/>
          </a:xfrm>
        </p:grpSpPr>
        <p:sp>
          <p:nvSpPr>
            <p:cNvPr id="3078" name="AutoShape 5"/>
            <p:cNvSpPr>
              <a:spLocks noChangeArrowheads="1"/>
            </p:cNvSpPr>
            <p:nvPr/>
          </p:nvSpPr>
          <p:spPr bwMode="auto">
            <a:xfrm>
              <a:off x="3337" y="7993"/>
              <a:ext cx="1440" cy="576"/>
            </a:xfrm>
            <a:prstGeom prst="flowChartTermina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/>
                <a:t>FILLIMI</a:t>
              </a:r>
              <a:endParaRPr lang="en-US" sz="1400"/>
            </a:p>
          </p:txBody>
        </p:sp>
        <p:sp>
          <p:nvSpPr>
            <p:cNvPr id="3079" name="Line 6"/>
            <p:cNvSpPr>
              <a:spLocks noChangeShapeType="1"/>
            </p:cNvSpPr>
            <p:nvPr/>
          </p:nvSpPr>
          <p:spPr bwMode="auto">
            <a:xfrm>
              <a:off x="4057" y="8569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0" name="AutoShape 7"/>
            <p:cNvSpPr>
              <a:spLocks noChangeArrowheads="1"/>
            </p:cNvSpPr>
            <p:nvPr/>
          </p:nvSpPr>
          <p:spPr bwMode="auto">
            <a:xfrm>
              <a:off x="2467" y="8963"/>
              <a:ext cx="3168" cy="685"/>
            </a:xfrm>
            <a:prstGeom prst="flowChartInputOutpu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Hyrja</a:t>
              </a:r>
            </a:p>
            <a:p>
              <a:pPr algn="ctr"/>
              <a:r>
                <a:rPr lang="en-US" sz="1400" b="1"/>
                <a:t>a, b, c</a:t>
              </a:r>
              <a:endParaRPr lang="en-US" sz="1400"/>
            </a:p>
          </p:txBody>
        </p:sp>
        <p:sp>
          <p:nvSpPr>
            <p:cNvPr id="3081" name="AutoShape 8"/>
            <p:cNvSpPr>
              <a:spLocks noChangeArrowheads="1"/>
            </p:cNvSpPr>
            <p:nvPr/>
          </p:nvSpPr>
          <p:spPr bwMode="auto">
            <a:xfrm>
              <a:off x="2554" y="10012"/>
              <a:ext cx="2937" cy="3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d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/>
                <a:t> </a:t>
              </a:r>
              <a:r>
                <a:rPr lang="en-US" sz="1400" b="1"/>
                <a:t>sqrt(</a:t>
              </a:r>
              <a:r>
                <a:rPr lang="en-US" sz="1400" b="1" i="1"/>
                <a:t>b x b</a:t>
              </a:r>
              <a:r>
                <a:rPr lang="en-US" sz="1400" b="1"/>
                <a:t> – 4 x </a:t>
              </a:r>
              <a:r>
                <a:rPr lang="en-US" sz="1400" b="1" i="1"/>
                <a:t>a </a:t>
              </a:r>
              <a:r>
                <a:rPr lang="en-US" sz="1400" b="1"/>
                <a:t>x</a:t>
              </a:r>
              <a:r>
                <a:rPr lang="en-US" sz="1400" b="1" i="1"/>
                <a:t> c</a:t>
              </a:r>
              <a:r>
                <a:rPr lang="en-US" sz="1400" b="1"/>
                <a:t>)</a:t>
              </a:r>
              <a:endParaRPr lang="en-US" sz="1400" b="1">
                <a:solidFill>
                  <a:srgbClr val="000000"/>
                </a:solidFill>
                <a:latin typeface="TimesNewRomanPSMT" charset="0"/>
              </a:endParaRPr>
            </a:p>
            <a:p>
              <a:endParaRPr lang="en-US" sz="1400"/>
            </a:p>
          </p:txBody>
        </p:sp>
        <p:sp>
          <p:nvSpPr>
            <p:cNvPr id="3082" name="AutoShape 9"/>
            <p:cNvSpPr>
              <a:spLocks noChangeArrowheads="1"/>
            </p:cNvSpPr>
            <p:nvPr/>
          </p:nvSpPr>
          <p:spPr bwMode="auto">
            <a:xfrm>
              <a:off x="2785" y="12221"/>
              <a:ext cx="2448" cy="836"/>
            </a:xfrm>
            <a:prstGeom prst="flowChartDisplay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Printo</a:t>
              </a:r>
            </a:p>
            <a:p>
              <a:pPr algn="ctr"/>
              <a:r>
                <a:rPr lang="en-US" sz="1400" b="1" i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,</a:t>
              </a:r>
              <a:r>
                <a:rPr lang="en-US" sz="1400" b="1" i="1"/>
                <a:t>x</a:t>
              </a:r>
              <a:r>
                <a:rPr lang="en-US" sz="1400" b="1" baseline="-25000"/>
                <a:t>2</a:t>
              </a:r>
              <a:r>
                <a:rPr lang="en-US" sz="1400" b="1"/>
                <a:t> </a:t>
              </a:r>
              <a:endParaRPr lang="en-US" sz="1400"/>
            </a:p>
          </p:txBody>
        </p:sp>
        <p:sp>
          <p:nvSpPr>
            <p:cNvPr id="3083" name="AutoShape 10"/>
            <p:cNvSpPr>
              <a:spLocks noChangeArrowheads="1"/>
            </p:cNvSpPr>
            <p:nvPr/>
          </p:nvSpPr>
          <p:spPr bwMode="auto">
            <a:xfrm>
              <a:off x="3285" y="13392"/>
              <a:ext cx="1440" cy="595"/>
            </a:xfrm>
            <a:prstGeom prst="flowChartTermina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FUNDI</a:t>
              </a:r>
              <a:endParaRPr lang="en-US" sz="1400"/>
            </a:p>
          </p:txBody>
        </p:sp>
        <p:sp>
          <p:nvSpPr>
            <p:cNvPr id="3084" name="Line 11"/>
            <p:cNvSpPr>
              <a:spLocks noChangeShapeType="1"/>
            </p:cNvSpPr>
            <p:nvPr/>
          </p:nvSpPr>
          <p:spPr bwMode="auto">
            <a:xfrm>
              <a:off x="4032" y="9648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5" name="AutoShape 12"/>
            <p:cNvSpPr>
              <a:spLocks noChangeArrowheads="1"/>
            </p:cNvSpPr>
            <p:nvPr/>
          </p:nvSpPr>
          <p:spPr bwMode="auto">
            <a:xfrm>
              <a:off x="2562" y="10732"/>
              <a:ext cx="2937" cy="3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 i="1"/>
                <a:t>x</a:t>
              </a:r>
              <a:r>
                <a:rPr lang="en-US" sz="1400" b="1" baseline="-25000"/>
                <a:t>1</a:t>
              </a:r>
              <a:r>
                <a:rPr lang="en-US" sz="1400" b="1"/>
                <a:t>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400" b="1"/>
                <a:t>(–</a:t>
              </a:r>
              <a:r>
                <a:rPr lang="en-US" sz="1400" b="1" i="1"/>
                <a:t>b</a:t>
              </a:r>
              <a:r>
                <a:rPr lang="en-US" sz="1400" b="1"/>
                <a:t> + </a:t>
              </a:r>
              <a:r>
                <a:rPr lang="en-US" sz="1400" b="1" i="1"/>
                <a:t>d</a:t>
              </a:r>
              <a:r>
                <a:rPr lang="en-US" sz="1400" b="1"/>
                <a:t>) / (2 x </a:t>
              </a:r>
              <a:r>
                <a:rPr lang="en-US" sz="1400" b="1" i="1"/>
                <a:t>a</a:t>
              </a:r>
              <a:r>
                <a:rPr lang="en-US" sz="1400" b="1"/>
                <a:t>)</a:t>
              </a:r>
              <a:endParaRPr lang="en-US" sz="1400" b="1">
                <a:solidFill>
                  <a:srgbClr val="000000"/>
                </a:solidFill>
                <a:latin typeface="TimesNewRomanPSMT" charset="0"/>
              </a:endParaRPr>
            </a:p>
            <a:p>
              <a:endParaRPr lang="en-US" sz="1400"/>
            </a:p>
          </p:txBody>
        </p:sp>
        <p:sp>
          <p:nvSpPr>
            <p:cNvPr id="3086" name="Line 13"/>
            <p:cNvSpPr>
              <a:spLocks noChangeShapeType="1"/>
            </p:cNvSpPr>
            <p:nvPr/>
          </p:nvSpPr>
          <p:spPr bwMode="auto">
            <a:xfrm>
              <a:off x="4021" y="10368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AutoShape 14"/>
            <p:cNvSpPr>
              <a:spLocks noChangeArrowheads="1"/>
            </p:cNvSpPr>
            <p:nvPr/>
          </p:nvSpPr>
          <p:spPr bwMode="auto">
            <a:xfrm>
              <a:off x="2554" y="11463"/>
              <a:ext cx="2937" cy="380"/>
            </a:xfrm>
            <a:prstGeom prst="flowChart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 i="1"/>
                <a:t>X</a:t>
              </a:r>
              <a:r>
                <a:rPr lang="en-US" sz="1400" b="1" baseline="-25000"/>
                <a:t>2</a:t>
              </a:r>
              <a:r>
                <a:rPr lang="en-US" sz="1400" b="1"/>
                <a:t>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400" b="1"/>
                <a:t> (–</a:t>
              </a:r>
              <a:r>
                <a:rPr lang="en-US" sz="1400" b="1" i="1"/>
                <a:t>b</a:t>
              </a:r>
              <a:r>
                <a:rPr lang="en-US" sz="1400" b="1"/>
                <a:t> – </a:t>
              </a:r>
              <a:r>
                <a:rPr lang="en-US" sz="1400" b="1" i="1"/>
                <a:t>d</a:t>
              </a:r>
              <a:r>
                <a:rPr lang="en-US" sz="1400" b="1"/>
                <a:t>) / (2 x </a:t>
              </a:r>
              <a:r>
                <a:rPr lang="en-US" sz="1400" b="1" i="1"/>
                <a:t>a</a:t>
              </a:r>
              <a:r>
                <a:rPr lang="en-US" sz="1400" b="1"/>
                <a:t>)</a:t>
              </a:r>
              <a:endParaRPr lang="en-US" sz="1400" b="1">
                <a:solidFill>
                  <a:srgbClr val="000000"/>
                </a:solidFill>
                <a:latin typeface="TimesNewRomanPSMT" charset="0"/>
              </a:endParaRPr>
            </a:p>
            <a:p>
              <a:endParaRPr lang="en-US" sz="1400"/>
            </a:p>
          </p:txBody>
        </p:sp>
        <p:sp>
          <p:nvSpPr>
            <p:cNvPr id="3088" name="Line 15"/>
            <p:cNvSpPr>
              <a:spLocks noChangeShapeType="1"/>
            </p:cNvSpPr>
            <p:nvPr/>
          </p:nvSpPr>
          <p:spPr bwMode="auto">
            <a:xfrm>
              <a:off x="4013" y="11099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9" name="Line 16"/>
            <p:cNvSpPr>
              <a:spLocks noChangeShapeType="1"/>
            </p:cNvSpPr>
            <p:nvPr/>
          </p:nvSpPr>
          <p:spPr bwMode="auto">
            <a:xfrm>
              <a:off x="4013" y="11832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Line 17"/>
            <p:cNvSpPr>
              <a:spLocks noChangeShapeType="1"/>
            </p:cNvSpPr>
            <p:nvPr/>
          </p:nvSpPr>
          <p:spPr bwMode="auto">
            <a:xfrm>
              <a:off x="4013" y="13052"/>
              <a:ext cx="0" cy="3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 err="1"/>
              <a:t>Shprehja</a:t>
            </a:r>
            <a:r>
              <a:rPr lang="en-GB" sz="2800" dirty="0"/>
              <a:t> </a:t>
            </a:r>
            <a:r>
              <a:rPr lang="en-GB" sz="2800" b="1" dirty="0"/>
              <a:t>A &gt; B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një</a:t>
            </a:r>
            <a:r>
              <a:rPr lang="en-GB" sz="2800" dirty="0"/>
              <a:t> </a:t>
            </a:r>
            <a:r>
              <a:rPr lang="en-GB" sz="2800" dirty="0" err="1"/>
              <a:t>shprehje</a:t>
            </a:r>
            <a:r>
              <a:rPr lang="en-GB" sz="2800" dirty="0"/>
              <a:t> </a:t>
            </a:r>
            <a:r>
              <a:rPr lang="en-GB" sz="2800" dirty="0" err="1"/>
              <a:t>logjike</a:t>
            </a:r>
            <a:r>
              <a:rPr lang="en-GB" sz="2800" dirty="0"/>
              <a:t>.</a:t>
            </a:r>
            <a:br>
              <a:rPr lang="en-GB" sz="2800" dirty="0"/>
            </a:br>
            <a:r>
              <a:rPr lang="en-GB" sz="2800" dirty="0"/>
              <a:t>Ajo </a:t>
            </a:r>
            <a:r>
              <a:rPr lang="en-GB" sz="2800" dirty="0" err="1"/>
              <a:t>përshkruan</a:t>
            </a:r>
            <a:r>
              <a:rPr lang="en-GB" sz="2800" dirty="0"/>
              <a:t> </a:t>
            </a:r>
            <a:r>
              <a:rPr lang="en-GB" sz="2800" dirty="0" err="1"/>
              <a:t>një</a:t>
            </a:r>
            <a:r>
              <a:rPr lang="en-GB" sz="2800" dirty="0"/>
              <a:t> </a:t>
            </a:r>
            <a:r>
              <a:rPr lang="en-GB" sz="2800" dirty="0" err="1"/>
              <a:t>kusht</a:t>
            </a:r>
            <a:r>
              <a:rPr lang="en-GB" sz="2800" dirty="0"/>
              <a:t> </a:t>
            </a:r>
            <a:r>
              <a:rPr lang="en-GB" sz="2800" dirty="0" err="1"/>
              <a:t>që</a:t>
            </a:r>
            <a:r>
              <a:rPr lang="en-GB" sz="2800" dirty="0"/>
              <a:t> </a:t>
            </a:r>
            <a:r>
              <a:rPr lang="en-GB" sz="2800" dirty="0" err="1"/>
              <a:t>duam</a:t>
            </a:r>
            <a:r>
              <a:rPr lang="en-GB" sz="2800" dirty="0"/>
              <a:t> ta </a:t>
            </a:r>
            <a:r>
              <a:rPr lang="en-GB" sz="2800" dirty="0" err="1"/>
              <a:t>testojmë</a:t>
            </a:r>
            <a:r>
              <a:rPr lang="en-GB" sz="2800" dirty="0"/>
              <a:t>.</a:t>
            </a:r>
          </a:p>
          <a:p>
            <a:r>
              <a:rPr lang="en-GB" sz="2800" dirty="0" err="1"/>
              <a:t>Nëse</a:t>
            </a:r>
            <a:r>
              <a:rPr lang="en-GB" sz="2800" dirty="0"/>
              <a:t> </a:t>
            </a:r>
            <a:r>
              <a:rPr lang="en-GB" sz="2800" b="1" dirty="0"/>
              <a:t>A &gt; B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e </a:t>
            </a:r>
            <a:r>
              <a:rPr lang="en-GB" sz="2800" dirty="0" err="1"/>
              <a:t>vërtetë</a:t>
            </a:r>
            <a:r>
              <a:rPr lang="en-GB" sz="2800" dirty="0"/>
              <a:t> (</a:t>
            </a:r>
            <a:r>
              <a:rPr lang="en-GB" sz="2800" dirty="0" err="1"/>
              <a:t>nëse</a:t>
            </a:r>
            <a:r>
              <a:rPr lang="en-GB" sz="2800" dirty="0"/>
              <a:t> A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më</a:t>
            </a:r>
            <a:r>
              <a:rPr lang="en-GB" sz="2800" dirty="0"/>
              <a:t> e </a:t>
            </a:r>
            <a:r>
              <a:rPr lang="en-GB" sz="2800" dirty="0" err="1"/>
              <a:t>madhe</a:t>
            </a:r>
            <a:r>
              <a:rPr lang="en-GB" sz="2800" dirty="0"/>
              <a:t> se B), </a:t>
            </a:r>
            <a:r>
              <a:rPr lang="en-GB" sz="2800" dirty="0" err="1"/>
              <a:t>marrim</a:t>
            </a:r>
            <a:r>
              <a:rPr lang="en-GB" sz="2800" dirty="0"/>
              <a:t> </a:t>
            </a:r>
            <a:r>
              <a:rPr lang="en-GB" sz="2800" dirty="0" err="1"/>
              <a:t>veprimin</a:t>
            </a:r>
            <a:r>
              <a:rPr lang="en-GB" sz="2800" dirty="0"/>
              <a:t> </a:t>
            </a:r>
            <a:r>
              <a:rPr lang="en-GB" sz="2800" dirty="0" err="1"/>
              <a:t>në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majtë</a:t>
            </a:r>
            <a:r>
              <a:rPr lang="en-GB" sz="2800" dirty="0"/>
              <a:t>:</a:t>
            </a:r>
            <a:br>
              <a:rPr lang="en-GB" sz="2800" dirty="0"/>
            </a:br>
            <a:r>
              <a:rPr lang="en-GB" sz="2800" dirty="0" err="1"/>
              <a:t>printojmë</a:t>
            </a:r>
            <a:r>
              <a:rPr lang="en-GB" sz="2800" dirty="0"/>
              <a:t> </a:t>
            </a:r>
            <a:r>
              <a:rPr lang="en-GB" sz="2800" dirty="0" err="1"/>
              <a:t>vlerën</a:t>
            </a:r>
            <a:r>
              <a:rPr lang="en-GB" sz="2800" dirty="0"/>
              <a:t> e A.</a:t>
            </a:r>
          </a:p>
          <a:p>
            <a:r>
              <a:rPr lang="en-GB" sz="2800" dirty="0" err="1"/>
              <a:t>Nëse</a:t>
            </a:r>
            <a:r>
              <a:rPr lang="en-GB" sz="2800" dirty="0"/>
              <a:t> </a:t>
            </a:r>
            <a:r>
              <a:rPr lang="en-GB" sz="2800" b="1" dirty="0"/>
              <a:t>A &gt; B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e </a:t>
            </a:r>
            <a:r>
              <a:rPr lang="en-GB" sz="2800" dirty="0" err="1"/>
              <a:t>pavërtetë</a:t>
            </a:r>
            <a:r>
              <a:rPr lang="en-GB" sz="2800" dirty="0"/>
              <a:t> (</a:t>
            </a:r>
            <a:r>
              <a:rPr lang="en-GB" sz="2800" dirty="0" err="1"/>
              <a:t>nëse</a:t>
            </a:r>
            <a:r>
              <a:rPr lang="en-GB" sz="2800" dirty="0"/>
              <a:t> A </a:t>
            </a:r>
            <a:r>
              <a:rPr lang="en-GB" sz="2800" dirty="0" err="1"/>
              <a:t>nuk</a:t>
            </a:r>
            <a:r>
              <a:rPr lang="en-GB" sz="2800" dirty="0"/>
              <a:t> </a:t>
            </a:r>
            <a:r>
              <a:rPr lang="en-GB" sz="2800" dirty="0" err="1"/>
              <a:t>është</a:t>
            </a:r>
            <a:r>
              <a:rPr lang="en-GB" sz="2800" dirty="0"/>
              <a:t> </a:t>
            </a:r>
            <a:r>
              <a:rPr lang="en-GB" sz="2800" dirty="0" err="1"/>
              <a:t>më</a:t>
            </a:r>
            <a:r>
              <a:rPr lang="en-GB" sz="2800" dirty="0"/>
              <a:t> e </a:t>
            </a:r>
            <a:r>
              <a:rPr lang="en-GB" sz="2800" dirty="0" err="1"/>
              <a:t>madhe</a:t>
            </a:r>
            <a:r>
              <a:rPr lang="en-GB" sz="2800" dirty="0"/>
              <a:t> se B), </a:t>
            </a:r>
            <a:r>
              <a:rPr lang="en-GB" sz="2800" dirty="0" err="1"/>
              <a:t>marrim</a:t>
            </a:r>
            <a:r>
              <a:rPr lang="en-GB" sz="2800" dirty="0"/>
              <a:t> </a:t>
            </a:r>
            <a:r>
              <a:rPr lang="en-GB" sz="2800" dirty="0" err="1"/>
              <a:t>veprimin</a:t>
            </a:r>
            <a:r>
              <a:rPr lang="en-GB" sz="2800" dirty="0"/>
              <a:t> </a:t>
            </a:r>
            <a:r>
              <a:rPr lang="en-GB" sz="2800" dirty="0" err="1"/>
              <a:t>në</a:t>
            </a:r>
            <a:r>
              <a:rPr lang="en-GB" sz="2800" dirty="0"/>
              <a:t> </a:t>
            </a:r>
            <a:r>
              <a:rPr lang="en-GB" sz="2800" dirty="0" err="1"/>
              <a:t>të</a:t>
            </a:r>
            <a:r>
              <a:rPr lang="en-GB" sz="2800" dirty="0"/>
              <a:t> </a:t>
            </a:r>
            <a:r>
              <a:rPr lang="en-GB" sz="2800" dirty="0" err="1"/>
              <a:t>djathtë</a:t>
            </a:r>
            <a:r>
              <a:rPr lang="en-GB" sz="2800" dirty="0"/>
              <a:t>:</a:t>
            </a:r>
            <a:br>
              <a:rPr lang="en-GB" sz="2800" dirty="0"/>
            </a:br>
            <a:r>
              <a:rPr lang="en-GB" sz="2800" dirty="0" err="1"/>
              <a:t>printojmë</a:t>
            </a:r>
            <a:r>
              <a:rPr lang="en-GB" sz="2800" dirty="0"/>
              <a:t> </a:t>
            </a:r>
            <a:r>
              <a:rPr lang="en-GB" sz="2800" dirty="0" err="1"/>
              <a:t>vlerën</a:t>
            </a:r>
            <a:r>
              <a:rPr lang="en-GB" sz="2800" dirty="0"/>
              <a:t> e B.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/>
              <a:t>STRUKTURAT E VENDIMMARRJES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/>
              <a:t>STRUKTURAT E VENDIMMARRJES</a:t>
            </a:r>
          </a:p>
        </p:txBody>
      </p:sp>
      <p:grpSp>
        <p:nvGrpSpPr>
          <p:cNvPr id="21507" name="Group 4"/>
          <p:cNvGrpSpPr>
            <a:grpSpLocks/>
          </p:cNvGrpSpPr>
          <p:nvPr/>
        </p:nvGrpSpPr>
        <p:grpSpPr bwMode="auto">
          <a:xfrm>
            <a:off x="2362200" y="2514600"/>
            <a:ext cx="4114800" cy="3048000"/>
            <a:chOff x="3744" y="3888"/>
            <a:chExt cx="5184" cy="3168"/>
          </a:xfrm>
        </p:grpSpPr>
        <p:sp>
          <p:nvSpPr>
            <p:cNvPr id="21508" name="AutoShape 5"/>
            <p:cNvSpPr>
              <a:spLocks noChangeArrowheads="1"/>
            </p:cNvSpPr>
            <p:nvPr/>
          </p:nvSpPr>
          <p:spPr bwMode="auto">
            <a:xfrm>
              <a:off x="5472" y="4320"/>
              <a:ext cx="1728" cy="1152"/>
            </a:xfrm>
            <a:prstGeom prst="flowChartDecision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is</a:t>
              </a:r>
            </a:p>
            <a:p>
              <a:pPr algn="ctr"/>
              <a:r>
                <a:rPr lang="en-US" b="1"/>
                <a:t>A&gt;B</a:t>
              </a:r>
              <a:endParaRPr lang="en-US"/>
            </a:p>
          </p:txBody>
        </p:sp>
        <p:sp>
          <p:nvSpPr>
            <p:cNvPr id="21509" name="Line 6"/>
            <p:cNvSpPr>
              <a:spLocks noChangeShapeType="1"/>
            </p:cNvSpPr>
            <p:nvPr/>
          </p:nvSpPr>
          <p:spPr bwMode="auto">
            <a:xfrm>
              <a:off x="7200" y="4896"/>
              <a:ext cx="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Line 7"/>
            <p:cNvSpPr>
              <a:spLocks noChangeShapeType="1"/>
            </p:cNvSpPr>
            <p:nvPr/>
          </p:nvSpPr>
          <p:spPr bwMode="auto">
            <a:xfrm>
              <a:off x="8064" y="4896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Line 8"/>
            <p:cNvSpPr>
              <a:spLocks noChangeShapeType="1"/>
            </p:cNvSpPr>
            <p:nvPr/>
          </p:nvSpPr>
          <p:spPr bwMode="auto">
            <a:xfrm>
              <a:off x="4627" y="4896"/>
              <a:ext cx="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Line 9"/>
            <p:cNvSpPr>
              <a:spLocks noChangeShapeType="1"/>
            </p:cNvSpPr>
            <p:nvPr/>
          </p:nvSpPr>
          <p:spPr bwMode="auto">
            <a:xfrm>
              <a:off x="4627" y="4896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AutoShape 10"/>
            <p:cNvSpPr>
              <a:spLocks noChangeArrowheads="1"/>
            </p:cNvSpPr>
            <p:nvPr/>
          </p:nvSpPr>
          <p:spPr bwMode="auto">
            <a:xfrm>
              <a:off x="7200" y="5760"/>
              <a:ext cx="1728" cy="576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Printoo B</a:t>
              </a:r>
              <a:endParaRPr lang="en-US"/>
            </a:p>
          </p:txBody>
        </p:sp>
        <p:sp>
          <p:nvSpPr>
            <p:cNvPr id="21514" name="AutoShape 11"/>
            <p:cNvSpPr>
              <a:spLocks noChangeArrowheads="1"/>
            </p:cNvSpPr>
            <p:nvPr/>
          </p:nvSpPr>
          <p:spPr bwMode="auto">
            <a:xfrm>
              <a:off x="3744" y="5752"/>
              <a:ext cx="1728" cy="576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Printoo A</a:t>
              </a:r>
              <a:endParaRPr lang="en-US"/>
            </a:p>
          </p:txBody>
        </p:sp>
        <p:sp>
          <p:nvSpPr>
            <p:cNvPr id="21515" name="Line 12"/>
            <p:cNvSpPr>
              <a:spLocks noChangeShapeType="1"/>
            </p:cNvSpPr>
            <p:nvPr/>
          </p:nvSpPr>
          <p:spPr bwMode="auto">
            <a:xfrm>
              <a:off x="6336" y="3888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Line 13"/>
            <p:cNvSpPr>
              <a:spLocks noChangeShapeType="1"/>
            </p:cNvSpPr>
            <p:nvPr/>
          </p:nvSpPr>
          <p:spPr bwMode="auto">
            <a:xfrm>
              <a:off x="4608" y="6336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Line 14"/>
            <p:cNvSpPr>
              <a:spLocks noChangeShapeType="1"/>
            </p:cNvSpPr>
            <p:nvPr/>
          </p:nvSpPr>
          <p:spPr bwMode="auto">
            <a:xfrm>
              <a:off x="4608" y="6624"/>
              <a:ext cx="34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Line 15"/>
            <p:cNvSpPr>
              <a:spLocks noChangeShapeType="1"/>
            </p:cNvSpPr>
            <p:nvPr/>
          </p:nvSpPr>
          <p:spPr bwMode="auto">
            <a:xfrm flipV="1">
              <a:off x="8064" y="6336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16"/>
            <p:cNvSpPr>
              <a:spLocks noChangeShapeType="1"/>
            </p:cNvSpPr>
            <p:nvPr/>
          </p:nvSpPr>
          <p:spPr bwMode="auto">
            <a:xfrm>
              <a:off x="6192" y="662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Text Box 17"/>
            <p:cNvSpPr txBox="1">
              <a:spLocks noChangeArrowheads="1"/>
            </p:cNvSpPr>
            <p:nvPr/>
          </p:nvSpPr>
          <p:spPr bwMode="auto">
            <a:xfrm>
              <a:off x="4464" y="4464"/>
              <a:ext cx="864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Y</a:t>
              </a:r>
              <a:endParaRPr lang="en-US"/>
            </a:p>
          </p:txBody>
        </p:sp>
        <p:sp>
          <p:nvSpPr>
            <p:cNvPr id="21521" name="Text Box 18"/>
            <p:cNvSpPr txBox="1">
              <a:spLocks noChangeArrowheads="1"/>
            </p:cNvSpPr>
            <p:nvPr/>
          </p:nvSpPr>
          <p:spPr bwMode="auto">
            <a:xfrm>
              <a:off x="7632" y="4464"/>
              <a:ext cx="864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N</a:t>
              </a:r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Struktura është si vijon</a:t>
            </a:r>
            <a:endParaRPr lang="en-US" b="1" i="1"/>
          </a:p>
          <a:p>
            <a:pPr eaLnBrk="1" hangingPunct="1">
              <a:buFont typeface="Wingdings" pitchFamily="2" charset="2"/>
              <a:buNone/>
            </a:pPr>
            <a:r>
              <a:rPr lang="en-US" b="1" i="1"/>
              <a:t>Nëse kushti atëherë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i="1"/>
              <a:t>		alternativa e vërtetë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i="1"/>
              <a:t>	përndryshe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i="1"/>
              <a:t>		alternativa e gabuar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b="1" i="1"/>
              <a:t>fundif</a:t>
            </a:r>
            <a:r>
              <a:rPr lang="en-US"/>
              <a:t> 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STRUKTURA IF–THEN–ELSE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Algoritmi për diagramën rrjedhëse është si vijon:</a:t>
            </a:r>
            <a:endParaRPr lang="en-US" b="1" i="1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i="1"/>
              <a:t>If A&gt;B then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i="1"/>
              <a:t>	printo 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i="1"/>
              <a:t>përndryshe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i="1"/>
              <a:t>	printo 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b="1" i="1"/>
              <a:t>fundif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STRUKTURA IF–THEN–ELSE</a:t>
            </a:r>
          </a:p>
        </p:txBody>
      </p:sp>
      <p:grpSp>
        <p:nvGrpSpPr>
          <p:cNvPr id="23556" name="Group 4"/>
          <p:cNvGrpSpPr>
            <a:grpSpLocks/>
          </p:cNvGrpSpPr>
          <p:nvPr/>
        </p:nvGrpSpPr>
        <p:grpSpPr bwMode="auto">
          <a:xfrm>
            <a:off x="3810000" y="2819400"/>
            <a:ext cx="4114800" cy="3048000"/>
            <a:chOff x="3744" y="3888"/>
            <a:chExt cx="5184" cy="3168"/>
          </a:xfrm>
        </p:grpSpPr>
        <p:sp>
          <p:nvSpPr>
            <p:cNvPr id="23557" name="AutoShape 5"/>
            <p:cNvSpPr>
              <a:spLocks noChangeArrowheads="1"/>
            </p:cNvSpPr>
            <p:nvPr/>
          </p:nvSpPr>
          <p:spPr bwMode="auto">
            <a:xfrm>
              <a:off x="5472" y="4320"/>
              <a:ext cx="1728" cy="1152"/>
            </a:xfrm>
            <a:prstGeom prst="flowChartDecision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is</a:t>
              </a:r>
            </a:p>
            <a:p>
              <a:pPr algn="ctr"/>
              <a:r>
                <a:rPr lang="en-US" b="1"/>
                <a:t>A&gt;B</a:t>
              </a:r>
              <a:endParaRPr lang="en-US"/>
            </a:p>
          </p:txBody>
        </p:sp>
        <p:sp>
          <p:nvSpPr>
            <p:cNvPr id="23558" name="Line 6"/>
            <p:cNvSpPr>
              <a:spLocks noChangeShapeType="1"/>
            </p:cNvSpPr>
            <p:nvPr/>
          </p:nvSpPr>
          <p:spPr bwMode="auto">
            <a:xfrm>
              <a:off x="7200" y="4896"/>
              <a:ext cx="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8064" y="4896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4627" y="4896"/>
              <a:ext cx="8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4627" y="4896"/>
              <a:ext cx="0" cy="8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AutoShape 10"/>
            <p:cNvSpPr>
              <a:spLocks noChangeArrowheads="1"/>
            </p:cNvSpPr>
            <p:nvPr/>
          </p:nvSpPr>
          <p:spPr bwMode="auto">
            <a:xfrm>
              <a:off x="7200" y="5760"/>
              <a:ext cx="1728" cy="576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Printoo B</a:t>
              </a:r>
              <a:endParaRPr lang="en-US"/>
            </a:p>
          </p:txBody>
        </p:sp>
        <p:sp>
          <p:nvSpPr>
            <p:cNvPr id="23563" name="AutoShape 11"/>
            <p:cNvSpPr>
              <a:spLocks noChangeArrowheads="1"/>
            </p:cNvSpPr>
            <p:nvPr/>
          </p:nvSpPr>
          <p:spPr bwMode="auto">
            <a:xfrm>
              <a:off x="3744" y="5752"/>
              <a:ext cx="1728" cy="576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Printoo A</a:t>
              </a:r>
              <a:endParaRPr lang="en-US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>
              <a:off x="6336" y="3888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Line 13"/>
            <p:cNvSpPr>
              <a:spLocks noChangeShapeType="1"/>
            </p:cNvSpPr>
            <p:nvPr/>
          </p:nvSpPr>
          <p:spPr bwMode="auto">
            <a:xfrm>
              <a:off x="4608" y="6336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Line 14"/>
            <p:cNvSpPr>
              <a:spLocks noChangeShapeType="1"/>
            </p:cNvSpPr>
            <p:nvPr/>
          </p:nvSpPr>
          <p:spPr bwMode="auto">
            <a:xfrm>
              <a:off x="4608" y="6624"/>
              <a:ext cx="34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 flipV="1">
              <a:off x="8064" y="6336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>
              <a:off x="6192" y="662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Text Box 17"/>
            <p:cNvSpPr txBox="1">
              <a:spLocks noChangeArrowheads="1"/>
            </p:cNvSpPr>
            <p:nvPr/>
          </p:nvSpPr>
          <p:spPr bwMode="auto">
            <a:xfrm>
              <a:off x="4464" y="4464"/>
              <a:ext cx="864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Y</a:t>
              </a:r>
              <a:endParaRPr lang="en-US"/>
            </a:p>
          </p:txBody>
        </p:sp>
        <p:sp>
          <p:nvSpPr>
            <p:cNvPr id="23570" name="Text Box 18"/>
            <p:cNvSpPr txBox="1">
              <a:spLocks noChangeArrowheads="1"/>
            </p:cNvSpPr>
            <p:nvPr/>
          </p:nvSpPr>
          <p:spPr bwMode="auto">
            <a:xfrm>
              <a:off x="7632" y="4464"/>
              <a:ext cx="864" cy="43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b="1"/>
                <a:t>N</a:t>
              </a:r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Operatoriët Relacionalë</a:t>
            </a:r>
          </a:p>
        </p:txBody>
      </p:sp>
      <p:graphicFrame>
        <p:nvGraphicFramePr>
          <p:cNvPr id="27755" name="Group 107"/>
          <p:cNvGraphicFramePr>
            <a:graphicFrameLocks noGrp="1"/>
          </p:cNvGraphicFramePr>
          <p:nvPr>
            <p:ph type="tbl" idx="1"/>
          </p:nvPr>
        </p:nvGraphicFramePr>
        <p:xfrm>
          <a:off x="457200" y="2154238"/>
          <a:ext cx="8229600" cy="3639186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Operatoriët Relacionalë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Operatori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Përshkrimi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&gt;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Më i madh se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&lt;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Më i vogël se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=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I barabartë 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Më i madh ose i barabartë 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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Më i vogël ose i barabartë 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80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Jo i barabartë 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err="1"/>
              <a:t>Shkruani</a:t>
            </a:r>
            <a:r>
              <a:rPr lang="en-US" sz="2400" dirty="0"/>
              <a:t> </a:t>
            </a:r>
            <a:r>
              <a:rPr lang="en-US" sz="2400" dirty="0" err="1"/>
              <a:t>një</a:t>
            </a:r>
            <a:r>
              <a:rPr lang="en-US" sz="2400" dirty="0"/>
              <a:t> </a:t>
            </a:r>
            <a:r>
              <a:rPr lang="en-US" sz="2400" dirty="0" err="1"/>
              <a:t>algoritëm</a:t>
            </a:r>
            <a:r>
              <a:rPr lang="en-US" sz="2400" dirty="0"/>
              <a:t> </a:t>
            </a:r>
            <a:r>
              <a:rPr lang="en-US" sz="2400" dirty="0" err="1"/>
              <a:t>që</a:t>
            </a:r>
            <a:r>
              <a:rPr lang="en-US" sz="2400" dirty="0"/>
              <a:t> </a:t>
            </a:r>
            <a:r>
              <a:rPr lang="en-US" sz="2400" dirty="0" err="1"/>
              <a:t>lexon</a:t>
            </a:r>
            <a:r>
              <a:rPr lang="en-US" sz="2400" dirty="0"/>
              <a:t> </a:t>
            </a:r>
            <a:r>
              <a:rPr lang="en-US" sz="2400" dirty="0" err="1"/>
              <a:t>dy</a:t>
            </a:r>
            <a:r>
              <a:rPr lang="en-US" sz="2400" dirty="0"/>
              <a:t> </a:t>
            </a:r>
            <a:r>
              <a:rPr lang="en-US" sz="2400" dirty="0" err="1"/>
              <a:t>vlera</a:t>
            </a:r>
            <a:r>
              <a:rPr lang="en-US" sz="2400" dirty="0"/>
              <a:t>, </a:t>
            </a:r>
            <a:r>
              <a:rPr lang="en-US" sz="2400" dirty="0" err="1"/>
              <a:t>përcakton</a:t>
            </a:r>
            <a:r>
              <a:rPr lang="en-US" sz="2400" dirty="0"/>
              <a:t> </a:t>
            </a:r>
            <a:r>
              <a:rPr lang="en-US" sz="2400" dirty="0" err="1"/>
              <a:t>vlerën</a:t>
            </a:r>
            <a:r>
              <a:rPr lang="en-US" sz="2400" dirty="0"/>
              <a:t> </a:t>
            </a:r>
            <a:r>
              <a:rPr lang="en-US" sz="2400" dirty="0" err="1"/>
              <a:t>më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 dirty="0" err="1"/>
              <a:t>madhe</a:t>
            </a:r>
            <a:r>
              <a:rPr lang="en-US" sz="2400" dirty="0"/>
              <a:t> </a:t>
            </a:r>
            <a:r>
              <a:rPr lang="en-US" sz="2400" dirty="0" err="1"/>
              <a:t>dhe</a:t>
            </a:r>
            <a:r>
              <a:rPr lang="en-US" sz="2400" dirty="0"/>
              <a:t> </a:t>
            </a:r>
            <a:r>
              <a:rPr lang="en-US" sz="2400" dirty="0" err="1"/>
              <a:t>printon</a:t>
            </a:r>
            <a:r>
              <a:rPr lang="en-US" sz="2400" dirty="0"/>
              <a:t> </a:t>
            </a:r>
            <a:r>
              <a:rPr lang="en-US" sz="2400" dirty="0" err="1"/>
              <a:t>vlerën</a:t>
            </a:r>
            <a:r>
              <a:rPr lang="en-US" sz="2400" dirty="0"/>
              <a:t> </a:t>
            </a:r>
            <a:r>
              <a:rPr lang="en-US" sz="2400" dirty="0" err="1"/>
              <a:t>më</a:t>
            </a:r>
            <a:r>
              <a:rPr lang="en-US" sz="2400" dirty="0"/>
              <a:t> </a:t>
            </a:r>
            <a:r>
              <a:rPr lang="en-US" sz="2400" dirty="0" err="1"/>
              <a:t>të</a:t>
            </a:r>
            <a:r>
              <a:rPr lang="en-US" sz="2400" dirty="0"/>
              <a:t> </a:t>
            </a:r>
            <a:r>
              <a:rPr lang="en-US" sz="2400"/>
              <a:t>madhe.</a:t>
            </a: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dirty="0"/>
              <a:t>ALGORITMI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Hapi 1:  	</a:t>
            </a:r>
            <a:r>
              <a:rPr lang="en-US" sz="2400" i="1" dirty="0" err="1"/>
              <a:t>Hyrja</a:t>
            </a:r>
            <a:r>
              <a:rPr lang="en-US" sz="2400" dirty="0"/>
              <a:t> VALUE1, VALUE2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Hapi 2: 	</a:t>
            </a:r>
            <a:r>
              <a:rPr lang="en-US" sz="2400" i="1" dirty="0"/>
              <a:t>if (</a:t>
            </a:r>
            <a:r>
              <a:rPr lang="en-US" sz="2400" dirty="0"/>
              <a:t>VALUE1 &gt; VALUE2) </a:t>
            </a:r>
            <a:r>
              <a:rPr lang="en-US" sz="2400" i="1" dirty="0"/>
              <a:t>then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			MAX </a:t>
            </a:r>
            <a:r>
              <a:rPr lang="en-US" sz="2400" dirty="0">
                <a:sym typeface="Symbol" pitchFamily="18" charset="2"/>
              </a:rPr>
              <a:t></a:t>
            </a:r>
            <a:r>
              <a:rPr lang="en-US" sz="2400" dirty="0"/>
              <a:t> VALUE1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		</a:t>
            </a:r>
            <a:r>
              <a:rPr lang="en-US" sz="2400" i="1" dirty="0" err="1"/>
              <a:t>përndryshe</a:t>
            </a:r>
            <a:r>
              <a:rPr lang="en-US" sz="2400" dirty="0"/>
              <a:t>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			MAX </a:t>
            </a:r>
            <a:r>
              <a:rPr lang="en-US" sz="2400" dirty="0">
                <a:sym typeface="Symbol" pitchFamily="18" charset="2"/>
              </a:rPr>
              <a:t></a:t>
            </a:r>
            <a:r>
              <a:rPr lang="en-US" sz="2400" dirty="0"/>
              <a:t> VALUE2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i="1" dirty="0"/>
              <a:t>			</a:t>
            </a:r>
            <a:r>
              <a:rPr lang="en-US" sz="2400" i="1" dirty="0" err="1"/>
              <a:t>fundif</a:t>
            </a:r>
            <a:endParaRPr lang="en-US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Hapi 3: 	</a:t>
            </a:r>
            <a:r>
              <a:rPr lang="en-US" sz="2400" i="1" dirty="0"/>
              <a:t>Printo “Vlera </a:t>
            </a:r>
            <a:r>
              <a:rPr lang="en-US" sz="2400" i="1" dirty="0" err="1"/>
              <a:t>më</a:t>
            </a:r>
            <a:r>
              <a:rPr lang="en-US" sz="2400" i="1" dirty="0"/>
              <a:t> e </a:t>
            </a:r>
            <a:r>
              <a:rPr lang="en-US" sz="2400" i="1" dirty="0" err="1"/>
              <a:t>madhe</a:t>
            </a:r>
            <a:r>
              <a:rPr lang="en-US" sz="2400" i="1" dirty="0"/>
              <a:t> </a:t>
            </a:r>
            <a:r>
              <a:rPr lang="en-US" sz="2400" i="1" dirty="0" err="1"/>
              <a:t>është</a:t>
            </a:r>
            <a:r>
              <a:rPr lang="en-US" sz="2400" i="1" dirty="0"/>
              <a:t>”, MAX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Shembulli 5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Shembulli 5 </a:t>
            </a:r>
          </a:p>
        </p:txBody>
      </p:sp>
      <p:grpSp>
        <p:nvGrpSpPr>
          <p:cNvPr id="26627" name="Group 26"/>
          <p:cNvGrpSpPr>
            <a:grpSpLocks/>
          </p:cNvGrpSpPr>
          <p:nvPr/>
        </p:nvGrpSpPr>
        <p:grpSpPr bwMode="auto">
          <a:xfrm>
            <a:off x="2514600" y="1447800"/>
            <a:ext cx="4419600" cy="5257800"/>
            <a:chOff x="2688" y="720"/>
            <a:chExt cx="2784" cy="3312"/>
          </a:xfrm>
        </p:grpSpPr>
        <p:sp>
          <p:nvSpPr>
            <p:cNvPr id="26628" name="AutoShape 5"/>
            <p:cNvSpPr>
              <a:spLocks noChangeArrowheads="1"/>
            </p:cNvSpPr>
            <p:nvPr/>
          </p:nvSpPr>
          <p:spPr bwMode="auto">
            <a:xfrm>
              <a:off x="2688" y="2464"/>
              <a:ext cx="1071" cy="220"/>
            </a:xfrm>
            <a:prstGeom prst="flowChartProcess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/>
                <a:t>MAX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400" b="1"/>
                <a:t> VALUE1</a:t>
              </a:r>
              <a:endParaRPr lang="en-US" sz="1400" b="1">
                <a:solidFill>
                  <a:srgbClr val="000000"/>
                </a:solidFill>
                <a:latin typeface="TimesNewRomanPSMT" charset="0"/>
              </a:endParaRPr>
            </a:p>
            <a:p>
              <a:endParaRPr lang="en-US" sz="1400"/>
            </a:p>
          </p:txBody>
        </p:sp>
        <p:sp>
          <p:nvSpPr>
            <p:cNvPr id="26629" name="AutoShape 6"/>
            <p:cNvSpPr>
              <a:spLocks noChangeArrowheads="1"/>
            </p:cNvSpPr>
            <p:nvPr/>
          </p:nvSpPr>
          <p:spPr bwMode="auto">
            <a:xfrm>
              <a:off x="2797" y="3133"/>
              <a:ext cx="2356" cy="426"/>
            </a:xfrm>
            <a:prstGeom prst="flowChartDisplay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Printo</a:t>
              </a:r>
            </a:p>
            <a:p>
              <a:pPr algn="ctr"/>
              <a:r>
                <a:rPr lang="en-US" sz="1400" b="1" i="1"/>
                <a:t>“Vlera më e madhe është”, MAX</a:t>
              </a:r>
              <a:r>
                <a:rPr lang="en-US" sz="1400" b="1"/>
                <a:t> </a:t>
              </a:r>
              <a:endParaRPr lang="en-US" sz="1400"/>
            </a:p>
          </p:txBody>
        </p:sp>
        <p:sp>
          <p:nvSpPr>
            <p:cNvPr id="26630" name="AutoShape 7"/>
            <p:cNvSpPr>
              <a:spLocks noChangeArrowheads="1"/>
            </p:cNvSpPr>
            <p:nvPr/>
          </p:nvSpPr>
          <p:spPr bwMode="auto">
            <a:xfrm>
              <a:off x="3644" y="3729"/>
              <a:ext cx="714" cy="303"/>
            </a:xfrm>
            <a:prstGeom prst="flowChartTerminator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FUNDI</a:t>
              </a:r>
              <a:endParaRPr lang="en-US" sz="1400"/>
            </a:p>
          </p:txBody>
        </p:sp>
        <p:sp>
          <p:nvSpPr>
            <p:cNvPr id="26631" name="Line 8"/>
            <p:cNvSpPr>
              <a:spLocks noChangeShapeType="1"/>
            </p:cNvSpPr>
            <p:nvPr/>
          </p:nvSpPr>
          <p:spPr bwMode="auto">
            <a:xfrm>
              <a:off x="4005" y="3556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AutoShape 9"/>
            <p:cNvSpPr>
              <a:spLocks noChangeArrowheads="1"/>
            </p:cNvSpPr>
            <p:nvPr/>
          </p:nvSpPr>
          <p:spPr bwMode="auto">
            <a:xfrm>
              <a:off x="3654" y="1731"/>
              <a:ext cx="906" cy="669"/>
            </a:xfrm>
            <a:prstGeom prst="flowChartDecision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r-TR" sz="1400"/>
            </a:p>
          </p:txBody>
        </p:sp>
        <p:sp>
          <p:nvSpPr>
            <p:cNvPr id="26633" name="Line 10"/>
            <p:cNvSpPr>
              <a:spLocks noChangeShapeType="1"/>
            </p:cNvSpPr>
            <p:nvPr/>
          </p:nvSpPr>
          <p:spPr bwMode="auto">
            <a:xfrm>
              <a:off x="4510" y="2024"/>
              <a:ext cx="4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Line 11"/>
            <p:cNvSpPr>
              <a:spLocks noChangeShapeType="1"/>
            </p:cNvSpPr>
            <p:nvPr/>
          </p:nvSpPr>
          <p:spPr bwMode="auto">
            <a:xfrm>
              <a:off x="4939" y="2024"/>
              <a:ext cx="0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Line 12"/>
            <p:cNvSpPr>
              <a:spLocks noChangeShapeType="1"/>
            </p:cNvSpPr>
            <p:nvPr/>
          </p:nvSpPr>
          <p:spPr bwMode="auto">
            <a:xfrm>
              <a:off x="3235" y="2024"/>
              <a:ext cx="4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Line 13"/>
            <p:cNvSpPr>
              <a:spLocks noChangeShapeType="1"/>
            </p:cNvSpPr>
            <p:nvPr/>
          </p:nvSpPr>
          <p:spPr bwMode="auto">
            <a:xfrm>
              <a:off x="3235" y="2024"/>
              <a:ext cx="0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Line 14"/>
            <p:cNvSpPr>
              <a:spLocks noChangeShapeType="1"/>
            </p:cNvSpPr>
            <p:nvPr/>
          </p:nvSpPr>
          <p:spPr bwMode="auto">
            <a:xfrm>
              <a:off x="3225" y="2684"/>
              <a:ext cx="0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Line 15"/>
            <p:cNvSpPr>
              <a:spLocks noChangeShapeType="1"/>
            </p:cNvSpPr>
            <p:nvPr/>
          </p:nvSpPr>
          <p:spPr bwMode="auto">
            <a:xfrm>
              <a:off x="3225" y="2904"/>
              <a:ext cx="17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Line 16"/>
            <p:cNvSpPr>
              <a:spLocks noChangeShapeType="1"/>
            </p:cNvSpPr>
            <p:nvPr/>
          </p:nvSpPr>
          <p:spPr bwMode="auto">
            <a:xfrm flipV="1">
              <a:off x="4939" y="2684"/>
              <a:ext cx="0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Line 17"/>
            <p:cNvSpPr>
              <a:spLocks noChangeShapeType="1"/>
            </p:cNvSpPr>
            <p:nvPr/>
          </p:nvSpPr>
          <p:spPr bwMode="auto">
            <a:xfrm>
              <a:off x="4011" y="2904"/>
              <a:ext cx="0" cy="2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Text Box 18"/>
            <p:cNvSpPr txBox="1">
              <a:spLocks noChangeArrowheads="1"/>
            </p:cNvSpPr>
            <p:nvPr/>
          </p:nvSpPr>
          <p:spPr bwMode="auto">
            <a:xfrm>
              <a:off x="3154" y="1804"/>
              <a:ext cx="428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Y</a:t>
              </a:r>
              <a:endParaRPr lang="en-US" sz="1400"/>
            </a:p>
          </p:txBody>
        </p:sp>
        <p:sp>
          <p:nvSpPr>
            <p:cNvPr id="26642" name="Text Box 19"/>
            <p:cNvSpPr txBox="1">
              <a:spLocks noChangeArrowheads="1"/>
            </p:cNvSpPr>
            <p:nvPr/>
          </p:nvSpPr>
          <p:spPr bwMode="auto">
            <a:xfrm>
              <a:off x="4724" y="1804"/>
              <a:ext cx="42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/>
                <a:t>N</a:t>
              </a:r>
              <a:endParaRPr lang="en-US" sz="1400"/>
            </a:p>
          </p:txBody>
        </p:sp>
        <p:sp>
          <p:nvSpPr>
            <p:cNvPr id="26643" name="AutoShape 20"/>
            <p:cNvSpPr>
              <a:spLocks noChangeArrowheads="1"/>
            </p:cNvSpPr>
            <p:nvPr/>
          </p:nvSpPr>
          <p:spPr bwMode="auto">
            <a:xfrm>
              <a:off x="3737" y="720"/>
              <a:ext cx="714" cy="293"/>
            </a:xfrm>
            <a:prstGeom prst="flowChartTerminator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/>
                <a:t>FILLIMI</a:t>
              </a:r>
              <a:endParaRPr lang="en-US" sz="1400"/>
            </a:p>
          </p:txBody>
        </p:sp>
        <p:sp>
          <p:nvSpPr>
            <p:cNvPr id="26644" name="Line 21"/>
            <p:cNvSpPr>
              <a:spLocks noChangeShapeType="1"/>
            </p:cNvSpPr>
            <p:nvPr/>
          </p:nvSpPr>
          <p:spPr bwMode="auto">
            <a:xfrm>
              <a:off x="4094" y="1013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AutoShape 22"/>
            <p:cNvSpPr>
              <a:spLocks noChangeArrowheads="1"/>
            </p:cNvSpPr>
            <p:nvPr/>
          </p:nvSpPr>
          <p:spPr bwMode="auto">
            <a:xfrm>
              <a:off x="3154" y="1214"/>
              <a:ext cx="1847" cy="348"/>
            </a:xfrm>
            <a:prstGeom prst="flowChartInputOutpu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400" b="1"/>
                <a:t>Hyrja</a:t>
              </a:r>
            </a:p>
            <a:p>
              <a:pPr algn="ctr"/>
              <a:r>
                <a:rPr lang="en-US" sz="1400" b="1"/>
                <a:t>VALUE1,VALUE2</a:t>
              </a:r>
              <a:endParaRPr lang="en-US" sz="1400"/>
            </a:p>
          </p:txBody>
        </p:sp>
        <p:sp>
          <p:nvSpPr>
            <p:cNvPr id="26646" name="Line 23"/>
            <p:cNvSpPr>
              <a:spLocks noChangeShapeType="1"/>
            </p:cNvSpPr>
            <p:nvPr/>
          </p:nvSpPr>
          <p:spPr bwMode="auto">
            <a:xfrm>
              <a:off x="4082" y="1562"/>
              <a:ext cx="0" cy="1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AutoShape 24"/>
            <p:cNvSpPr>
              <a:spLocks noChangeArrowheads="1"/>
            </p:cNvSpPr>
            <p:nvPr/>
          </p:nvSpPr>
          <p:spPr bwMode="auto">
            <a:xfrm>
              <a:off x="4401" y="2473"/>
              <a:ext cx="1071" cy="220"/>
            </a:xfrm>
            <a:prstGeom prst="flowChartProcess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 b="1"/>
                <a:t>MAX </a:t>
              </a:r>
              <a:r>
                <a:rPr lang="en-US">
                  <a:sym typeface="Symbol" pitchFamily="18" charset="2"/>
                </a:rPr>
                <a:t></a:t>
              </a:r>
              <a:r>
                <a:rPr lang="en-US" sz="1400" b="1"/>
                <a:t> VALUE2</a:t>
              </a:r>
              <a:endParaRPr lang="en-US" sz="1400" b="1">
                <a:solidFill>
                  <a:srgbClr val="000000"/>
                </a:solidFill>
                <a:latin typeface="TimesNewRomanPSMT" charset="0"/>
              </a:endParaRPr>
            </a:p>
            <a:p>
              <a:endParaRPr lang="en-US" sz="1400"/>
            </a:p>
          </p:txBody>
        </p:sp>
        <p:sp>
          <p:nvSpPr>
            <p:cNvPr id="26648" name="Text Box 25"/>
            <p:cNvSpPr txBox="1">
              <a:spLocks noChangeArrowheads="1"/>
            </p:cNvSpPr>
            <p:nvPr/>
          </p:nvSpPr>
          <p:spPr bwMode="auto">
            <a:xfrm>
              <a:off x="3443" y="1872"/>
              <a:ext cx="1357" cy="3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1100" b="1"/>
                <a:t>is</a:t>
              </a:r>
            </a:p>
            <a:p>
              <a:pPr algn="ctr"/>
              <a:r>
                <a:rPr lang="en-US" sz="1100" b="1"/>
                <a:t>VALUE1&gt;VALUE2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Shkruani</a:t>
            </a:r>
            <a:r>
              <a:rPr lang="en-US" dirty="0"/>
              <a:t> </a:t>
            </a:r>
            <a:r>
              <a:rPr lang="en-US" dirty="0" err="1"/>
              <a:t>nje</a:t>
            </a:r>
            <a:r>
              <a:rPr lang="en-US" dirty="0"/>
              <a:t> </a:t>
            </a:r>
            <a:r>
              <a:rPr lang="en-US" dirty="0" err="1"/>
              <a:t>algoritem</a:t>
            </a:r>
            <a:r>
              <a:rPr lang="en-US" dirty="0"/>
              <a:t> </a:t>
            </a:r>
            <a:r>
              <a:rPr lang="en-US" dirty="0" err="1"/>
              <a:t>qe</a:t>
            </a:r>
            <a:r>
              <a:rPr lang="en-US" dirty="0"/>
              <a:t> </a:t>
            </a:r>
            <a:r>
              <a:rPr lang="en-US" dirty="0" err="1"/>
              <a:t>lexon</a:t>
            </a:r>
            <a:r>
              <a:rPr lang="en-US" dirty="0"/>
              <a:t> 3 </a:t>
            </a:r>
            <a:r>
              <a:rPr lang="en-US" dirty="0" err="1"/>
              <a:t>numra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printon</a:t>
            </a:r>
            <a:r>
              <a:rPr lang="en-US" dirty="0"/>
              <a:t> me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madhin</a:t>
            </a:r>
            <a:r>
              <a:rPr lang="en-US" dirty="0"/>
              <a:t> </a:t>
            </a:r>
            <a:r>
              <a:rPr lang="en-US" dirty="0" err="1"/>
              <a:t>prej</a:t>
            </a:r>
            <a:r>
              <a:rPr lang="en-US" dirty="0"/>
              <a:t> </a:t>
            </a:r>
            <a:r>
              <a:rPr lang="en-US" dirty="0" err="1"/>
              <a:t>tyre</a:t>
            </a:r>
            <a:endParaRPr lang="en-US" dirty="0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Hapi 1:  </a:t>
            </a:r>
            <a:r>
              <a:rPr lang="en-US" sz="2000" b="1" i="1"/>
              <a:t>Hyrja</a:t>
            </a:r>
            <a:r>
              <a:rPr lang="en-US" sz="2000" b="1"/>
              <a:t> 	N1, N2, N3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Hapi 2:  </a:t>
            </a:r>
            <a:r>
              <a:rPr lang="en-US" sz="2000" b="1" i="1"/>
              <a:t>if (</a:t>
            </a:r>
            <a:r>
              <a:rPr lang="en-US" sz="2000" b="1"/>
              <a:t>N1&gt;N2) </a:t>
            </a:r>
            <a:r>
              <a:rPr lang="en-US" sz="2000" b="1" i="1"/>
              <a:t>then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       if (</a:t>
            </a:r>
            <a:r>
              <a:rPr lang="en-US" sz="2000" b="1"/>
              <a:t>N1&gt;N3) </a:t>
            </a:r>
            <a:r>
              <a:rPr lang="en-US" sz="2000" b="1" i="1"/>
              <a:t>then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			 MAX </a:t>
            </a:r>
            <a:r>
              <a:rPr lang="en-US" sz="1600"/>
              <a:t> </a:t>
            </a:r>
            <a:r>
              <a:rPr lang="en-US" sz="1600">
                <a:sym typeface="Symbol" pitchFamily="18" charset="2"/>
              </a:rPr>
              <a:t></a:t>
            </a:r>
            <a:r>
              <a:rPr lang="en-US" sz="2000" b="1"/>
              <a:t> N1	[N1&gt;N2, N1&gt;N3]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      përndryshe</a:t>
            </a:r>
            <a:r>
              <a:rPr lang="en-US" sz="2000" b="1"/>
              <a:t>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			 MAX </a:t>
            </a:r>
            <a:r>
              <a:rPr lang="en-US" sz="1600"/>
              <a:t> </a:t>
            </a:r>
            <a:r>
              <a:rPr lang="en-US" sz="1600">
                <a:sym typeface="Symbol" pitchFamily="18" charset="2"/>
              </a:rPr>
              <a:t></a:t>
            </a:r>
            <a:r>
              <a:rPr lang="en-US" sz="2000" b="1"/>
              <a:t> N3	[N3&gt;N1&gt;N2]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     fundif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përndryshe  	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 		      if (</a:t>
            </a:r>
            <a:r>
              <a:rPr lang="en-US" sz="2000" b="1"/>
              <a:t>N2&gt;N3) </a:t>
            </a:r>
            <a:r>
              <a:rPr lang="en-US" sz="2000" b="1" i="1"/>
              <a:t>then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			 MAX </a:t>
            </a:r>
            <a:r>
              <a:rPr lang="en-US" sz="1600"/>
              <a:t> </a:t>
            </a:r>
            <a:r>
              <a:rPr lang="en-US" sz="1600">
                <a:sym typeface="Symbol" pitchFamily="18" charset="2"/>
              </a:rPr>
              <a:t></a:t>
            </a:r>
            <a:r>
              <a:rPr lang="en-US" sz="2000" b="1"/>
              <a:t> N2	[N2&gt;N1, N2&gt;N3]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		     </a:t>
            </a:r>
            <a:r>
              <a:rPr lang="en-US" sz="2000" b="1" i="1"/>
              <a:t>përndryshe</a:t>
            </a:r>
            <a:r>
              <a:rPr lang="en-US" sz="2000" b="1"/>
              <a:t>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			 MAX</a:t>
            </a:r>
            <a:r>
              <a:rPr lang="en-US" sz="1600"/>
              <a:t> </a:t>
            </a:r>
            <a:r>
              <a:rPr lang="en-US" sz="1600">
                <a:sym typeface="Symbol" pitchFamily="18" charset="2"/>
              </a:rPr>
              <a:t></a:t>
            </a:r>
            <a:r>
              <a:rPr lang="en-US" sz="2000" b="1"/>
              <a:t> N3	[N3&gt;N2&gt;N1]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    fundif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/>
              <a:t>		fundif</a:t>
            </a:r>
            <a:endParaRPr lang="en-US" sz="2000" b="1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/>
              <a:t>Hapi 3: </a:t>
            </a:r>
            <a:r>
              <a:rPr lang="en-US" sz="2000" b="1" i="1"/>
              <a:t>Printo “Numri më i madh është”, MAX</a:t>
            </a:r>
            <a:endParaRPr lang="en-US" sz="2000" b="1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algn="ctr" eaLnBrk="1" hangingPunct="1"/>
            <a:r>
              <a:rPr lang="en-US"/>
              <a:t>Shembulli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Diagrami rrjedhës: Vizatoni diagramin rrjedhës të algoritmit të mësipërm.</a:t>
            </a:r>
            <a:r>
              <a:rPr lang="en-US"/>
              <a:t> 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sz="1400" b="1"/>
              <a:t>import</a:t>
            </a:r>
            <a:r>
              <a:rPr lang="en-US" sz="1400"/>
              <a:t> java.util.Scanner;   </a:t>
            </a:r>
          </a:p>
          <a:p>
            <a:r>
              <a:rPr lang="en-US" sz="1400" b="1"/>
              <a:t>class</a:t>
            </a:r>
            <a:r>
              <a:rPr lang="en-US" sz="1400"/>
              <a:t> LargestOfThreeNumbers { </a:t>
            </a:r>
          </a:p>
          <a:p>
            <a:r>
              <a:rPr lang="en-US" sz="1400" b="1"/>
              <a:t>public</a:t>
            </a:r>
            <a:r>
              <a:rPr lang="en-US" sz="1400"/>
              <a:t> </a:t>
            </a:r>
            <a:r>
              <a:rPr lang="en-US" sz="1400" b="1"/>
              <a:t>static</a:t>
            </a:r>
            <a:r>
              <a:rPr lang="en-US" sz="1400"/>
              <a:t> </a:t>
            </a:r>
            <a:r>
              <a:rPr lang="en-US" sz="1400" b="1"/>
              <a:t>void</a:t>
            </a:r>
            <a:r>
              <a:rPr lang="en-US" sz="1400"/>
              <a:t> main(String args[]) { </a:t>
            </a:r>
          </a:p>
          <a:p>
            <a:r>
              <a:rPr lang="en-US" sz="1400" b="1"/>
              <a:t>int</a:t>
            </a:r>
            <a:r>
              <a:rPr lang="en-US" sz="1400"/>
              <a:t> x, y, z; </a:t>
            </a:r>
          </a:p>
          <a:p>
            <a:r>
              <a:rPr lang="en-US" sz="1400"/>
              <a:t>System.out.println("Futni tre numra të plotë "); </a:t>
            </a:r>
          </a:p>
          <a:p>
            <a:r>
              <a:rPr lang="en-US" sz="1400"/>
              <a:t>Scanner in = </a:t>
            </a:r>
            <a:r>
              <a:rPr lang="en-US" sz="1400" b="1"/>
              <a:t>new</a:t>
            </a:r>
            <a:r>
              <a:rPr lang="en-US" sz="1400"/>
              <a:t> Scanner(System.in);   </a:t>
            </a:r>
          </a:p>
          <a:p>
            <a:r>
              <a:rPr lang="en-US" sz="1400"/>
              <a:t>x = in.nextInt(); </a:t>
            </a:r>
          </a:p>
          <a:p>
            <a:r>
              <a:rPr lang="en-US" sz="1400"/>
              <a:t>y = in.nextInt(); </a:t>
            </a:r>
          </a:p>
          <a:p>
            <a:r>
              <a:rPr lang="en-US" sz="1400"/>
              <a:t>z = in.nextInt();  </a:t>
            </a:r>
          </a:p>
          <a:p>
            <a:r>
              <a:rPr lang="en-US" sz="1400"/>
              <a:t> </a:t>
            </a:r>
            <a:r>
              <a:rPr lang="en-US" sz="1400" b="1"/>
              <a:t>if</a:t>
            </a:r>
            <a:r>
              <a:rPr lang="en-US" sz="1400"/>
              <a:t> ( x &gt; y &amp;&amp; x &gt; z ) </a:t>
            </a:r>
          </a:p>
          <a:p>
            <a:r>
              <a:rPr lang="en-US" sz="1400"/>
              <a:t>System.out.println("Numri i parë është më i madhi."); </a:t>
            </a:r>
          </a:p>
          <a:p>
            <a:r>
              <a:rPr lang="en-US" sz="1400" b="1"/>
              <a:t>përndryshe</a:t>
            </a:r>
            <a:r>
              <a:rPr lang="en-US" sz="1400"/>
              <a:t> </a:t>
            </a:r>
            <a:r>
              <a:rPr lang="en-US" sz="1400" b="1"/>
              <a:t>if</a:t>
            </a:r>
            <a:r>
              <a:rPr lang="en-US" sz="1400"/>
              <a:t> ( y &gt; x &amp;&amp; y &gt; z ) </a:t>
            </a:r>
          </a:p>
          <a:p>
            <a:r>
              <a:rPr lang="en-US" sz="1400"/>
              <a:t>System.out.println("Numri i dytë është më i madhi."); </a:t>
            </a:r>
          </a:p>
          <a:p>
            <a:r>
              <a:rPr lang="en-US" sz="1400" b="1"/>
              <a:t>përndryshe</a:t>
            </a:r>
            <a:r>
              <a:rPr lang="en-US" sz="1400"/>
              <a:t> </a:t>
            </a:r>
            <a:r>
              <a:rPr lang="en-US" sz="1400" b="1"/>
              <a:t>if</a:t>
            </a:r>
            <a:r>
              <a:rPr lang="en-US" sz="1400"/>
              <a:t> ( z &gt; x &amp;&amp; z &gt; y ) </a:t>
            </a:r>
          </a:p>
          <a:p>
            <a:r>
              <a:rPr lang="en-US" sz="1400"/>
              <a:t>System.out.println("Numri i tretë është më i madhi."); </a:t>
            </a:r>
          </a:p>
          <a:p>
            <a:r>
              <a:rPr lang="en-US" sz="1400" b="1"/>
              <a:t>përndryshe</a:t>
            </a:r>
            <a:r>
              <a:rPr lang="en-US" sz="1400"/>
              <a:t> </a:t>
            </a:r>
          </a:p>
          <a:p>
            <a:r>
              <a:rPr lang="en-US" sz="1400"/>
              <a:t>System.out.println("Numrat e futur nuk janë të ndryshëm."); </a:t>
            </a:r>
          </a:p>
          <a:p>
            <a:r>
              <a:rPr lang="en-US" sz="1400"/>
              <a:t>}</a:t>
            </a:r>
          </a:p>
          <a:p>
            <a:r>
              <a:rPr lang="en-US" sz="1400"/>
              <a:t>}</a:t>
            </a:r>
          </a:p>
        </p:txBody>
      </p:sp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/>
              <a:t>Kodi Java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3886200"/>
          </a:xfrm>
        </p:spPr>
        <p:txBody>
          <a:bodyPr/>
          <a:lstStyle/>
          <a:p>
            <a:pPr marL="609600" indent="-609600" eaLnBrk="1" hangingPunct="1"/>
            <a:r>
              <a:rPr lang="en-US"/>
              <a:t>Shkruani një algoritëm dhe vizatoni një diagram rrjedhës për të: </a:t>
            </a:r>
          </a:p>
          <a:p>
            <a:pPr marL="609600" indent="-609600" eaLnBrk="1" hangingPunct="1">
              <a:buFont typeface="Wingdings" pitchFamily="2" charset="2"/>
              <a:buAutoNum type="alphaLcParenR"/>
            </a:pPr>
            <a:r>
              <a:rPr lang="en-US"/>
              <a:t>lexuar emrin e punonjësit (NAME), orët jashtë orarit të punuara (OVERTIME), orët e munguara (ABSENT) dhe</a:t>
            </a:r>
          </a:p>
          <a:p>
            <a:pPr marL="609600" indent="-609600" eaLnBrk="1" hangingPunct="1">
              <a:buFont typeface="Wingdings" pitchFamily="2" charset="2"/>
              <a:buAutoNum type="alphaLcParenR"/>
            </a:pPr>
            <a:r>
              <a:rPr lang="en-US"/>
              <a:t>përcaktuar pagesën e bonusit (PAYMENT). 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7</a:t>
            </a:r>
          </a:p>
        </p:txBody>
      </p:sp>
      <p:graphicFrame>
        <p:nvGraphicFramePr>
          <p:cNvPr id="36906" name="Group 42"/>
          <p:cNvGraphicFramePr>
            <a:graphicFrameLocks noGrp="1"/>
          </p:cNvGraphicFramePr>
          <p:nvPr>
            <p:ph type="tbl" idx="1"/>
          </p:nvPr>
        </p:nvGraphicFramePr>
        <p:xfrm>
          <a:off x="457200" y="1981200"/>
          <a:ext cx="8229600" cy="3886201"/>
        </p:xfrm>
        <a:graphic>
          <a:graphicData uri="http://schemas.openxmlformats.org/drawingml/2006/table">
            <a:tbl>
              <a:tblPr/>
              <a:tblGrid>
                <a:gridCol w="464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138"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Orari i Bonusit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2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OVERTIME – (2/3)*ABSENT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Bonusi i Paguar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123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&gt;40 hours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&gt;30 but 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 40 hours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&gt;20 but 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 30 hours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&gt;10 but 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20 hours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  <a:sym typeface="Symbol" pitchFamily="18" charset="2"/>
                        </a:rPr>
                        <a:t>10 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$50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$40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$30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$20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NewRomanPSMT" charset="0"/>
                          <a:cs typeface="Times New Roman" pitchFamily="18" charset="0"/>
                        </a:rPr>
                        <a:t>$10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730250" y="1011238"/>
            <a:ext cx="7440613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2400"/>
              <a:t>Hapi 1:  </a:t>
            </a:r>
            <a:r>
              <a:rPr lang="en-US" sz="2400" i="1"/>
              <a:t>Hyrja</a:t>
            </a:r>
            <a:r>
              <a:rPr lang="en-US" sz="2400"/>
              <a:t> NAME,OVERTIME,ABSENT</a:t>
            </a:r>
          </a:p>
          <a:p>
            <a:r>
              <a:rPr lang="en-US" sz="2400"/>
              <a:t>Hapi 2: </a:t>
            </a:r>
            <a:r>
              <a:rPr lang="en-US" sz="2400" i="1"/>
              <a:t>if </a:t>
            </a:r>
            <a:r>
              <a:rPr lang="en-US" sz="2400"/>
              <a:t>(OVERTIME–(2/3)*ABSENT &gt; 40) </a:t>
            </a:r>
            <a:r>
              <a:rPr lang="en-US" sz="2400" i="1"/>
              <a:t>then</a:t>
            </a:r>
            <a:r>
              <a:rPr lang="en-US" sz="2400"/>
              <a:t> </a:t>
            </a:r>
          </a:p>
          <a:p>
            <a:r>
              <a:rPr lang="en-US" sz="2400"/>
              <a:t>                 PAYMENT 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</a:t>
            </a:r>
            <a:r>
              <a:rPr lang="en-US" sz="2400"/>
              <a:t> 50</a:t>
            </a:r>
          </a:p>
          <a:p>
            <a:r>
              <a:rPr lang="en-US" sz="2400" i="1"/>
              <a:t>   	 përndryshe if (</a:t>
            </a:r>
            <a:r>
              <a:rPr lang="en-US" sz="2400"/>
              <a:t>OVERTIME–(2/3)*ABSENT &gt; 30) </a:t>
            </a:r>
            <a:r>
              <a:rPr lang="en-US" sz="2400" i="1"/>
              <a:t>then</a:t>
            </a:r>
            <a:r>
              <a:rPr lang="en-US" sz="2400"/>
              <a:t> </a:t>
            </a:r>
          </a:p>
          <a:p>
            <a:r>
              <a:rPr lang="en-US" sz="2400"/>
              <a:t>	       PAYMENT 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</a:t>
            </a:r>
            <a:r>
              <a:rPr lang="en-US" sz="2400"/>
              <a:t> 40</a:t>
            </a:r>
          </a:p>
          <a:p>
            <a:r>
              <a:rPr lang="en-US" sz="2400" i="1"/>
              <a:t>	 përndryshe if (</a:t>
            </a:r>
            <a:r>
              <a:rPr lang="en-US" sz="2400"/>
              <a:t>OVERTIME–(2/3)*ABSENT &gt; 20) </a:t>
            </a:r>
            <a:r>
              <a:rPr lang="en-US" sz="2400" i="1"/>
              <a:t>then</a:t>
            </a:r>
            <a:r>
              <a:rPr lang="en-US" sz="2400"/>
              <a:t> </a:t>
            </a:r>
          </a:p>
          <a:p>
            <a:r>
              <a:rPr lang="en-US" sz="2400"/>
              <a:t>	       PAYMENT 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</a:t>
            </a:r>
            <a:r>
              <a:rPr lang="en-US" sz="2400"/>
              <a:t> 30</a:t>
            </a:r>
          </a:p>
          <a:p>
            <a:r>
              <a:rPr lang="en-US" sz="2400" i="1"/>
              <a:t>	 përndryshe if (</a:t>
            </a:r>
            <a:r>
              <a:rPr lang="en-US" sz="2400"/>
              <a:t>OVERTIME–(2/3)*ABSENT &gt; 10) </a:t>
            </a:r>
            <a:r>
              <a:rPr lang="en-US" sz="2400" i="1"/>
              <a:t>then</a:t>
            </a:r>
            <a:r>
              <a:rPr lang="en-US" sz="2400"/>
              <a:t> </a:t>
            </a:r>
          </a:p>
          <a:p>
            <a:r>
              <a:rPr lang="en-US" sz="2400"/>
              <a:t>	       PAYMENT 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</a:t>
            </a:r>
            <a:r>
              <a:rPr lang="en-US" sz="2400"/>
              <a:t>20</a:t>
            </a:r>
          </a:p>
          <a:p>
            <a:r>
              <a:rPr lang="en-US" sz="2400" i="1"/>
              <a:t>	 përndryshe </a:t>
            </a:r>
          </a:p>
          <a:p>
            <a:r>
              <a:rPr lang="en-US" sz="2400" i="1"/>
              <a:t>	       </a:t>
            </a:r>
            <a:r>
              <a:rPr lang="en-US" sz="2400"/>
              <a:t>PAYMENT</a:t>
            </a:r>
            <a:r>
              <a:rPr lang="en-US"/>
              <a:t> </a:t>
            </a:r>
            <a:r>
              <a:rPr lang="en-US">
                <a:sym typeface="Symbol" pitchFamily="18" charset="2"/>
              </a:rPr>
              <a:t></a:t>
            </a:r>
            <a:r>
              <a:rPr lang="en-US" sz="2400"/>
              <a:t> 10</a:t>
            </a:r>
          </a:p>
          <a:p>
            <a:r>
              <a:rPr lang="en-US" sz="2400" i="1"/>
              <a:t>	 fundif</a:t>
            </a:r>
            <a:endParaRPr lang="en-US" sz="2400"/>
          </a:p>
          <a:p>
            <a:r>
              <a:rPr lang="en-US" sz="2400"/>
              <a:t>Hapi 3: </a:t>
            </a:r>
            <a:r>
              <a:rPr lang="en-US" sz="2400" i="1"/>
              <a:t>Printo </a:t>
            </a:r>
            <a:r>
              <a:rPr lang="en-US" sz="2400"/>
              <a:t>“Bonusi për”, NAME “është $”, PAYMENT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/>
              <a:t>Diagrami rrjedhës: Vizatoni diagramin rrjedhës të algoritmit të mësipërm?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Shembulli 7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484</TotalTime>
  <Words>999</Words>
  <Application>Microsoft Office PowerPoint</Application>
  <PresentationFormat>On-screen Show (4:3)</PresentationFormat>
  <Paragraphs>168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Lucida Sans Unicode</vt:lpstr>
      <vt:lpstr>Symbol</vt:lpstr>
      <vt:lpstr>Times New Roman</vt:lpstr>
      <vt:lpstr>TimesNewRomanPSMT</vt:lpstr>
      <vt:lpstr>Verdana</vt:lpstr>
      <vt:lpstr>Wingdings</vt:lpstr>
      <vt:lpstr>Wingdings 2</vt:lpstr>
      <vt:lpstr>Wingdings 3</vt:lpstr>
      <vt:lpstr>Concourse</vt:lpstr>
      <vt:lpstr>Equation</vt:lpstr>
      <vt:lpstr>ALGORITHMS AND FLOWCHARTS </vt:lpstr>
      <vt:lpstr>Shembulli 4</vt:lpstr>
      <vt:lpstr>Shembulli 4</vt:lpstr>
      <vt:lpstr>STRUKTURAT E VENDIMMARRJES </vt:lpstr>
      <vt:lpstr>STRUKTURAT E VENDIMMARRJES</vt:lpstr>
      <vt:lpstr>STRUKTURA IF–THEN–ELSE </vt:lpstr>
      <vt:lpstr>STRUKTURA IF–THEN–ELSE</vt:lpstr>
      <vt:lpstr>Operatoriët Relacionalë</vt:lpstr>
      <vt:lpstr>Shembulli 5 </vt:lpstr>
      <vt:lpstr>Shembulli 5 </vt:lpstr>
      <vt:lpstr>Shembulli 6</vt:lpstr>
      <vt:lpstr>Shembulli 6</vt:lpstr>
      <vt:lpstr>Shembulli 6</vt:lpstr>
      <vt:lpstr>Kodi Java</vt:lpstr>
      <vt:lpstr>Shembulli 7</vt:lpstr>
      <vt:lpstr>Shembulli 7</vt:lpstr>
      <vt:lpstr>PowerPoint Presentation</vt:lpstr>
      <vt:lpstr>Shembulli 7</vt:lpstr>
    </vt:vector>
  </TitlesOfParts>
  <Company>EMU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FLOWCHARTS</dc:title>
  <dc:creator>Mustafa Uyguroglu</dc:creator>
  <cp:lastModifiedBy>Marin Aranitasi</cp:lastModifiedBy>
  <cp:revision>86</cp:revision>
  <dcterms:created xsi:type="dcterms:W3CDTF">2004-11-08T09:34:17Z</dcterms:created>
  <dcterms:modified xsi:type="dcterms:W3CDTF">2026-02-12T15:15:16Z</dcterms:modified>
</cp:coreProperties>
</file>