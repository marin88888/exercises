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64" r:id="rId4"/>
    <p:sldId id="265" r:id="rId5"/>
    <p:sldId id="266" r:id="rId6"/>
    <p:sldId id="267" r:id="rId7"/>
    <p:sldId id="268" r:id="rId8"/>
    <p:sldId id="270" r:id="rId9"/>
    <p:sldId id="269" r:id="rId10"/>
    <p:sldId id="271" r:id="rId11"/>
    <p:sldId id="258"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73" d="100"/>
          <a:sy n="73" d="100"/>
        </p:scale>
        <p:origin x="1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4B1CB3-B915-4A62-9701-148C0645339D}" type="datetimeFigureOut">
              <a:rPr lang="en-US" smtClean="0"/>
              <a:pPr/>
              <a:t>4/22/2026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E19891-D908-4CBF-87B5-332348064A8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E19891-D908-4CBF-87B5-332348064A81}"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4D9BB76C-D692-4118-B02F-194C08694C9F}" type="slidenum">
              <a:rPr lang="en-US"/>
              <a:pPr/>
              <a:t>11</a:t>
            </a:fld>
            <a:endParaRPr lang="en-US"/>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EAC94844-D812-4A75-98EC-B57CB05656C5}" type="datetimeFigureOut">
              <a:rPr lang="en-US" smtClean="0"/>
              <a:pPr/>
              <a:t>4/22/2026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80FA761-5480-4BE6-BB51-03D4EE61272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AC94844-D812-4A75-98EC-B57CB05656C5}"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A761-5480-4BE6-BB51-03D4EE612725}"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AC94844-D812-4A75-98EC-B57CB05656C5}"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A761-5480-4BE6-BB51-03D4EE612725}"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AC94844-D812-4A75-98EC-B57CB05656C5}"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0FA761-5480-4BE6-BB51-03D4EE612725}"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AC94844-D812-4A75-98EC-B57CB05656C5}"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0FA761-5480-4BE6-BB51-03D4EE61272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AC94844-D812-4A75-98EC-B57CB05656C5}"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0FA761-5480-4BE6-BB51-03D4EE612725}"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C94844-D812-4A75-98EC-B57CB05656C5}"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0FA761-5480-4BE6-BB51-03D4EE61272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EAC94844-D812-4A75-98EC-B57CB05656C5}"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0FA761-5480-4BE6-BB51-03D4EE61272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AC94844-D812-4A75-98EC-B57CB05656C5}" type="datetimeFigureOut">
              <a:rPr lang="en-US" smtClean="0"/>
              <a:pPr/>
              <a:t>4/22/2026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80FA761-5480-4BE6-BB51-03D4EE612725}"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AC94844-D812-4A75-98EC-B57CB05656C5}"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A761-5480-4BE6-BB51-03D4EE61272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AC94844-D812-4A75-98EC-B57CB05656C5}"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A761-5480-4BE6-BB51-03D4EE61272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EAC94844-D812-4A75-98EC-B57CB05656C5}" type="datetimeFigureOut">
              <a:rPr lang="en-US" smtClean="0"/>
              <a:pPr/>
              <a:t>4/22/2026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80FA761-5480-4BE6-BB51-03D4EE61272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Renditje e Thjeshtë</a:t>
            </a:r>
          </a:p>
        </p:txBody>
      </p:sp>
      <p:sp>
        <p:nvSpPr>
          <p:cNvPr id="3" name="Subtitle 2"/>
          <p:cNvSpPr>
            <a:spLocks noGrp="1"/>
          </p:cNvSpPr>
          <p:nvPr>
            <p:ph type="subTitle" idx="1"/>
          </p:nvPr>
        </p:nvSpPr>
        <p:spPr>
          <a:xfrm>
            <a:off x="685800" y="3611606"/>
            <a:ext cx="7772400" cy="1341393"/>
          </a:xfrm>
        </p:spPr>
        <p:txBody>
          <a:bodyPr>
            <a:normAutofit lnSpcReduction="10000"/>
          </a:bodyPr>
          <a:lstStyle/>
          <a:p>
            <a:pPr algn="ctr"/>
            <a:r>
              <a:rPr lang="en-US" dirty="0"/>
              <a:t>Mësimi 4-2</a:t>
            </a:r>
          </a:p>
          <a:p>
            <a:endParaRPr lang="en-US" dirty="0"/>
          </a:p>
          <a:p>
            <a:r>
              <a:rPr lang="en-US" dirty="0"/>
              <a:t>Marin </a:t>
            </a:r>
            <a:r>
              <a:rPr lang="en-US" dirty="0" err="1"/>
              <a:t>Aranitasi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Renditja me zgjedhje përmirëson renditjen me flluskë duke reduktuar numrin e shkëmbimeve të nevojshme nga O(N2) në O(N). Fatkeqësisht, numri i </a:t>
            </a:r>
            <a:r>
              <a:rPr lang="en-US"/>
              <a:t>krahasimeve mbetet O(N2</a:t>
            </a:r>
            <a:r>
              <a:rPr lang="en-US" dirty="0"/>
              <a:t>). Megjithatë, renditja me zgjedhje mund të ofrojë ende një përmirësim të rëndësishëm për regjistrime të mëdha</a:t>
            </a:r>
          </a:p>
          <a:p>
            <a:r>
              <a:rPr lang="en-US" dirty="0"/>
              <a:t>që duhet të zhvendosen fizikisht në memorie, duke bërë që koha e shkëmbimit të</a:t>
            </a:r>
          </a:p>
          <a:p>
            <a:r>
              <a:rPr lang="en-US" dirty="0"/>
              <a:t>jetë shumë më e rëndësishme se koha e krahasimit.</a:t>
            </a:r>
          </a:p>
        </p:txBody>
      </p:sp>
      <p:sp>
        <p:nvSpPr>
          <p:cNvPr id="3" name="Title 2"/>
          <p:cNvSpPr>
            <a:spLocks noGrp="1"/>
          </p:cNvSpPr>
          <p:nvPr>
            <p:ph type="title"/>
          </p:nvPr>
        </p:nvSpPr>
        <p:spPr/>
        <p:txBody>
          <a:bodyPr/>
          <a:lstStyle/>
          <a:p>
            <a:pPr algn="ctr"/>
            <a:r>
              <a:rPr lang="en-US" dirty="0"/>
              <a:t>Renditja me Zgjedhje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715000"/>
          </a:xfrm>
        </p:spPr>
        <p:txBody>
          <a:bodyPr>
            <a:normAutofit lnSpcReduction="10000"/>
          </a:bodyPr>
          <a:lstStyle/>
          <a:p>
            <a:r>
              <a:rPr lang="en-US" dirty="0"/>
              <a:t>Le të shqyrtojmë sërish lojtarët e beisbollit. Në renditjen me zgjedhje, nuk mund të krahasosh më vetëm lojtarët që qëndrojnë pranë njëri-tjetrit. </a:t>
            </a:r>
          </a:p>
          <a:p>
            <a:r>
              <a:rPr lang="en-US" dirty="0"/>
              <a:t>Kështu, do të duhet të mbash mend lartësinë e një lojtari të caktuar; mund të përdorësh një fletore për ta shënuar. </a:t>
            </a:r>
          </a:p>
          <a:p>
            <a:r>
              <a:rPr lang="en-US" dirty="0"/>
              <a:t>What’s involved in the selection sort is making a pass through all the players and selecting</a:t>
            </a:r>
            <a:r>
              <a:rPr lang="en-US" i="1" dirty="0"/>
              <a:t> </a:t>
            </a:r>
            <a:r>
              <a:rPr lang="en-US" b="1" i="1" dirty="0"/>
              <a:t>atij më të shkurtërit</a:t>
            </a:r>
            <a:r>
              <a:rPr lang="en-US" i="1" dirty="0"/>
              <a:t>. </a:t>
            </a:r>
          </a:p>
          <a:p>
            <a:r>
              <a:rPr lang="en-US" b="1" i="1" dirty="0"/>
              <a:t>Ky lojtari më i shkurtër </a:t>
            </a:r>
            <a:r>
              <a:rPr lang="en-US" dirty="0"/>
              <a:t>shkëmbehet pastaj me lojtarin në fundin e majtë të rreshtit, në pozicionin 0. </a:t>
            </a:r>
          </a:p>
          <a:p>
            <a:r>
              <a:rPr lang="en-US" dirty="0"/>
              <a:t>Tani lojtari më i majtë është i renditur dhe nuk do të duhet të zhvendoset më. </a:t>
            </a:r>
          </a:p>
        </p:txBody>
      </p:sp>
      <p:sp>
        <p:nvSpPr>
          <p:cNvPr id="3" name="Title 2"/>
          <p:cNvSpPr>
            <a:spLocks noGrp="1"/>
          </p:cNvSpPr>
          <p:nvPr>
            <p:ph type="title"/>
          </p:nvPr>
        </p:nvSpPr>
        <p:spPr>
          <a:xfrm>
            <a:off x="457200" y="-228600"/>
            <a:ext cx="8229600" cy="1143000"/>
          </a:xfrm>
        </p:spPr>
        <p:txBody>
          <a:bodyPr/>
          <a:lstStyle/>
          <a:p>
            <a:pPr algn="ctr"/>
            <a:r>
              <a:rPr lang="en-US" dirty="0"/>
              <a:t>Renditja me Zgjedhje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Vini re se në këtë algoritëm lojtarët e renditur grumbullohen në të majtë (indekse më të ulëta), ndërsa në renditjen me flluskë grumbulloheshin në të djathtë.</a:t>
            </a:r>
          </a:p>
          <a:p>
            <a:r>
              <a:rPr lang="en-US" dirty="0"/>
              <a:t>Herën tjetër kur kaloni përmes rreshtit të lojtarëve, filloni në pozicionin 1, dhe, duke gjetur minimumin, shkëmbeni me pozicionin 1. </a:t>
            </a:r>
          </a:p>
          <a:p>
            <a:r>
              <a:rPr lang="en-US" dirty="0"/>
              <a:t>Ky proces vazhdon derisa të gjithë lojtarët të jenë renditur.</a:t>
            </a:r>
          </a:p>
        </p:txBody>
      </p:sp>
      <p:sp>
        <p:nvSpPr>
          <p:cNvPr id="3" name="Title 2"/>
          <p:cNvSpPr>
            <a:spLocks noGrp="1"/>
          </p:cNvSpPr>
          <p:nvPr>
            <p:ph type="title"/>
          </p:nvPr>
        </p:nvSpPr>
        <p:spPr/>
        <p:txBody>
          <a:bodyPr/>
          <a:lstStyle/>
          <a:p>
            <a:pPr algn="ctr"/>
            <a:r>
              <a:rPr lang="en-US" dirty="0"/>
              <a:t>Renditja me Zgjedhje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fontScale="85000" lnSpcReduction="20000"/>
          </a:bodyPr>
          <a:lstStyle/>
          <a:p>
            <a:r>
              <a:rPr lang="en-US" dirty="0"/>
              <a:t>Më në detaje, filloni nga fundi i majtë i rreshtit të lojtarëve. Shënoni lartësinë e lojtarit më të majtë në fletoren tuaj dhe hidhni peshqirin magenta në tokë para kësaj personi. </a:t>
            </a:r>
          </a:p>
          <a:p>
            <a:r>
              <a:rPr lang="en-US" dirty="0"/>
              <a:t>Më pas krahasoni lartësinë e lojtarit tjetër në të djathtë me lartësinë në fletoren tuaj. Nëse ky lojtari është më i shkurtër, fshijeni lartësinë e lojtarit të parë dhe shënoni lartësinë e lojtarit të dytë. Gjithashtu lëvizni peshqirin, duke e vendosur para këtij lojtari të ri “më të shkurtër” (për momentin). </a:t>
            </a:r>
          </a:p>
          <a:p>
            <a:r>
              <a:rPr lang="en-US" dirty="0"/>
              <a:t>Vazhdoni nëpër rresht, duke krahasuar çdo lojtari me minimumin. Ndryshoni vlerën minimale në fletoren tuaj dhe lëvizni peshqirin sa herë që gjeni një lojtari më të shkurtër. </a:t>
            </a:r>
          </a:p>
          <a:p>
            <a:r>
              <a:rPr lang="en-US" dirty="0"/>
              <a:t>Kur të keni mbaruar, peshqiri magenta do të jetë para lojtarit më të shkurtër.</a:t>
            </a:r>
          </a:p>
        </p:txBody>
      </p:sp>
      <p:sp>
        <p:nvSpPr>
          <p:cNvPr id="3" name="Title 2"/>
          <p:cNvSpPr>
            <a:spLocks noGrp="1"/>
          </p:cNvSpPr>
          <p:nvPr>
            <p:ph type="title"/>
          </p:nvPr>
        </p:nvSpPr>
        <p:spPr/>
        <p:txBody>
          <a:bodyPr/>
          <a:lstStyle/>
          <a:p>
            <a:pPr algn="ctr"/>
            <a:r>
              <a:rPr lang="en-US" dirty="0"/>
              <a:t>Përshkrim i Detajuar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fontScale="92500" lnSpcReduction="20000"/>
          </a:bodyPr>
          <a:lstStyle/>
          <a:p>
            <a:r>
              <a:rPr lang="en-US" dirty="0"/>
              <a:t>Shkëmbejeni këtë lojtari më të shkurtër me lojtarin në fundin e majtë të rreshtit. </a:t>
            </a:r>
          </a:p>
          <a:p>
            <a:r>
              <a:rPr lang="en-US" dirty="0"/>
              <a:t>Tani keni renditur një lojtari. Keni bërë N-1 krahasime, por vetëm një shkëmbim.</a:t>
            </a:r>
          </a:p>
          <a:p>
            <a:r>
              <a:rPr lang="en-US" dirty="0"/>
              <a:t>Në kalimin tjetër, bëni saktësisht të njëjtën gjë, me përjashtim se mund të injoroni plotësisht lojtarin në të majtë sepse ky lojtari është renditur tashmë. </a:t>
            </a:r>
          </a:p>
          <a:p>
            <a:r>
              <a:rPr lang="en-US" dirty="0"/>
              <a:t>Kështu, algoritmi fillon kalimin e dytë në pozicionin 1, në vend të 0. </a:t>
            </a:r>
          </a:p>
          <a:p>
            <a:r>
              <a:rPr lang="en-US" dirty="0"/>
              <a:t>Me çdo kalim të radhës, edhe një lojtari tjetër renditet dhe vendoset në të majtë, dhe një lojtari më pak duhet të merret parasysh gjatë gjetjes së minimumit të ri.</a:t>
            </a:r>
          </a:p>
        </p:txBody>
      </p:sp>
      <p:sp>
        <p:nvSpPr>
          <p:cNvPr id="3" name="Title 2"/>
          <p:cNvSpPr>
            <a:spLocks noGrp="1"/>
          </p:cNvSpPr>
          <p:nvPr>
            <p:ph type="title"/>
          </p:nvPr>
        </p:nvSpPr>
        <p:spPr/>
        <p:txBody>
          <a:bodyPr/>
          <a:lstStyle/>
          <a:p>
            <a:pPr algn="ctr"/>
            <a:r>
              <a:rPr lang="en-US" dirty="0"/>
              <a:t>Përshkrim i Detajuar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a:xfrm>
            <a:off x="457200" y="0"/>
            <a:ext cx="8229600" cy="1143000"/>
          </a:xfrm>
        </p:spPr>
        <p:txBody>
          <a:bodyPr/>
          <a:lstStyle/>
          <a:p>
            <a:pPr algn="ctr"/>
            <a:r>
              <a:rPr lang="en-US" dirty="0"/>
              <a:t>Renditja me Zgjedhje</a:t>
            </a:r>
          </a:p>
        </p:txBody>
      </p:sp>
      <p:pic>
        <p:nvPicPr>
          <p:cNvPr id="1026" name="Picture 2"/>
          <p:cNvPicPr>
            <a:picLocks noChangeAspect="1" noChangeArrowheads="1"/>
          </p:cNvPicPr>
          <p:nvPr/>
        </p:nvPicPr>
        <p:blipFill>
          <a:blip r:embed="rId2"/>
          <a:srcRect/>
          <a:stretch>
            <a:fillRect/>
          </a:stretch>
        </p:blipFill>
        <p:spPr bwMode="auto">
          <a:xfrm>
            <a:off x="0" y="914400"/>
            <a:ext cx="9144000" cy="59436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95672"/>
          </a:xfrm>
        </p:spPr>
        <p:txBody>
          <a:bodyPr>
            <a:normAutofit lnSpcReduction="10000"/>
          </a:bodyPr>
          <a:lstStyle/>
          <a:p>
            <a:r>
              <a:rPr lang="en-US" dirty="0"/>
              <a:t>public void </a:t>
            </a:r>
            <a:r>
              <a:rPr lang="en-US" dirty="0" err="1"/>
              <a:t>selectionSort</a:t>
            </a:r>
            <a:r>
              <a:rPr lang="en-US" dirty="0"/>
              <a:t>()</a:t>
            </a:r>
          </a:p>
          <a:p>
            <a:r>
              <a:rPr lang="en-US" dirty="0"/>
              <a:t>{</a:t>
            </a:r>
          </a:p>
          <a:p>
            <a:r>
              <a:rPr lang="en-US" dirty="0" err="1"/>
              <a:t>int</a:t>
            </a:r>
            <a:r>
              <a:rPr lang="en-US" dirty="0"/>
              <a:t> out, in, min;</a:t>
            </a:r>
          </a:p>
          <a:p>
            <a:r>
              <a:rPr lang="en-US" dirty="0"/>
              <a:t>for(out=0; out&lt;nElems-1; out++) // {</a:t>
            </a:r>
          </a:p>
          <a:p>
            <a:r>
              <a:rPr lang="en-US" dirty="0"/>
              <a:t>min = out; // minimumi</a:t>
            </a:r>
          </a:p>
          <a:p>
            <a:r>
              <a:rPr lang="en-US" dirty="0"/>
              <a:t>for(in=out+1; in&lt;</a:t>
            </a:r>
            <a:r>
              <a:rPr lang="en-US" dirty="0" err="1"/>
              <a:t>nElems</a:t>
            </a:r>
            <a:r>
              <a:rPr lang="en-US" dirty="0"/>
              <a:t>; in++) // if(a[in] &lt; a[min] ) // nëse min është më i madh,</a:t>
            </a:r>
          </a:p>
          <a:p>
            <a:r>
              <a:rPr lang="en-US" dirty="0"/>
              <a:t>min = in; // kemi një min të ri</a:t>
            </a:r>
          </a:p>
          <a:p>
            <a:r>
              <a:rPr lang="en-US" dirty="0"/>
              <a:t>swap(out, min); // shkëmbejini</a:t>
            </a:r>
          </a:p>
          <a:p>
            <a:r>
              <a:rPr lang="en-US" dirty="0"/>
              <a:t>} // fund for(out)</a:t>
            </a:r>
          </a:p>
          <a:p>
            <a:r>
              <a:rPr lang="en-US" dirty="0"/>
              <a:t>} // fund </a:t>
            </a:r>
            <a:r>
              <a:rPr lang="en-US" dirty="0" err="1"/>
              <a:t>selectionSort</a:t>
            </a:r>
            <a:r>
              <a:rPr lang="en-US" dirty="0"/>
              <a:t>()</a:t>
            </a:r>
          </a:p>
        </p:txBody>
      </p:sp>
      <p:sp>
        <p:nvSpPr>
          <p:cNvPr id="3" name="Title 2"/>
          <p:cNvSpPr>
            <a:spLocks noGrp="1"/>
          </p:cNvSpPr>
          <p:nvPr>
            <p:ph type="title"/>
          </p:nvPr>
        </p:nvSpPr>
        <p:spPr/>
        <p:txBody>
          <a:bodyPr/>
          <a:lstStyle/>
          <a:p>
            <a:pPr algn="ctr"/>
            <a:r>
              <a:rPr lang="en-US" dirty="0"/>
              <a:t>Renditja me Zgjedhje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t>Renditja me Zgjedhje </a:t>
            </a:r>
          </a:p>
        </p:txBody>
      </p:sp>
      <p:pic>
        <p:nvPicPr>
          <p:cNvPr id="2050" name="Picture 2"/>
          <p:cNvPicPr>
            <a:picLocks noGrp="1" noChangeAspect="1" noChangeArrowheads="1"/>
          </p:cNvPicPr>
          <p:nvPr>
            <p:ph idx="1"/>
          </p:nvPr>
        </p:nvPicPr>
        <p:blipFill>
          <a:blip r:embed="rId3"/>
          <a:srcRect/>
          <a:stretch>
            <a:fillRect/>
          </a:stretch>
        </p:blipFill>
        <p:spPr bwMode="auto">
          <a:xfrm>
            <a:off x="0" y="1500981"/>
            <a:ext cx="9144000" cy="538353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Shembull ???</a:t>
            </a:r>
          </a:p>
          <a:p>
            <a:r>
              <a:rPr lang="en-US" dirty="0"/>
              <a:t>Faqja 93 e librit</a:t>
            </a:r>
          </a:p>
        </p:txBody>
      </p:sp>
      <p:sp>
        <p:nvSpPr>
          <p:cNvPr id="3" name="Title 2"/>
          <p:cNvSpPr>
            <a:spLocks noGrp="1"/>
          </p:cNvSpPr>
          <p:nvPr>
            <p:ph type="title"/>
          </p:nvPr>
        </p:nvSpPr>
        <p:spPr/>
        <p:txBody>
          <a:bodyPr/>
          <a:lstStyle/>
          <a:p>
            <a:pPr algn="ctr"/>
            <a:r>
              <a:rPr lang="en-US" dirty="0"/>
              <a:t>Renditja me Zgjedhje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lstStyle/>
          <a:p>
            <a:pPr eaLnBrk="1" hangingPunct="1"/>
            <a:r>
              <a:rPr lang="en-US"/>
              <a:t>Detyrë: rirregulloni librat në raft sipas lartësisë</a:t>
            </a:r>
          </a:p>
          <a:p>
            <a:pPr lvl="1" eaLnBrk="1" hangingPunct="1"/>
            <a:r>
              <a:rPr lang="en-US"/>
              <a:t>Libri më i shkurtër në të majtë</a:t>
            </a:r>
          </a:p>
          <a:p>
            <a:pPr eaLnBrk="1" hangingPunct="1"/>
            <a:r>
              <a:rPr lang="en-US"/>
              <a:t>Qasja:</a:t>
            </a:r>
          </a:p>
          <a:p>
            <a:pPr lvl="1" eaLnBrk="1" hangingPunct="1"/>
            <a:r>
              <a:rPr lang="en-US"/>
              <a:t>Shikoni librat, zgjidhni librin më të shkurtër</a:t>
            </a:r>
          </a:p>
          <a:p>
            <a:pPr lvl="1" eaLnBrk="1" hangingPunct="1"/>
            <a:r>
              <a:rPr lang="en-US"/>
              <a:t>Shkëmbejeni me librin e parë</a:t>
            </a:r>
          </a:p>
          <a:p>
            <a:pPr lvl="1" eaLnBrk="1" hangingPunct="1"/>
            <a:r>
              <a:rPr lang="en-US"/>
              <a:t>Shikoni librat e mbetur, zgjidhni më të shkurtin</a:t>
            </a:r>
          </a:p>
          <a:p>
            <a:pPr lvl="1" eaLnBrk="1" hangingPunct="1"/>
            <a:r>
              <a:rPr lang="en-US"/>
              <a:t>Shkëmbejeni me librin e dytë</a:t>
            </a:r>
          </a:p>
          <a:p>
            <a:pPr lvl="1" eaLnBrk="1" hangingPunct="1"/>
            <a:r>
              <a:rPr lang="en-US"/>
              <a:t>Përsëritni ...</a:t>
            </a:r>
          </a:p>
        </p:txBody>
      </p:sp>
      <p:sp>
        <p:nvSpPr>
          <p:cNvPr id="8194" name="Rectangle 2"/>
          <p:cNvSpPr>
            <a:spLocks noGrp="1" noChangeArrowheads="1"/>
          </p:cNvSpPr>
          <p:nvPr>
            <p:ph type="title"/>
          </p:nvPr>
        </p:nvSpPr>
        <p:spPr/>
        <p:txBody>
          <a:bodyPr/>
          <a:lstStyle/>
          <a:p>
            <a:pPr eaLnBrk="1" hangingPunct="1"/>
            <a:r>
              <a:rPr lang="en-US"/>
              <a:t>Renditja me Zgjedhje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Megjithatë, ajo është padyshim më e shpejtë sepse ka kaq pak shkëmbime. </a:t>
            </a:r>
          </a:p>
          <a:p>
            <a:r>
              <a:rPr lang="en-US" dirty="0"/>
              <a:t>Për vlera më të vogla të N, renditja me zgjedhje mund të jetë në fakt konsiderueshëm më e shpejtë, veçanërisht nëse kohët e shkëmbimit janë shumë më të mëdha se kohët e krahasimit.</a:t>
            </a:r>
          </a:p>
          <a:p>
            <a:endParaRPr lang="en-US" dirty="0"/>
          </a:p>
        </p:txBody>
      </p:sp>
      <p:sp>
        <p:nvSpPr>
          <p:cNvPr id="3" name="Title 2"/>
          <p:cNvSpPr>
            <a:spLocks noGrp="1"/>
          </p:cNvSpPr>
          <p:nvPr>
            <p:ph type="title"/>
          </p:nvPr>
        </p:nvSpPr>
        <p:spPr/>
        <p:txBody>
          <a:bodyPr/>
          <a:lstStyle/>
          <a:p>
            <a:pPr algn="ctr"/>
            <a:r>
              <a:rPr lang="en-US" dirty="0"/>
              <a:t>Efikasiteti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382000" cy="4843272"/>
          </a:xfrm>
        </p:spPr>
        <p:txBody>
          <a:bodyPr>
            <a:normAutofit/>
          </a:bodyPr>
          <a:lstStyle/>
          <a:p>
            <a:r>
              <a:rPr lang="en-US" dirty="0"/>
              <a:t>Në shumicën e rasteve renditja me futje është më e mira nga renditjet elementare të përshkruara në këtë kapitull. </a:t>
            </a:r>
          </a:p>
          <a:p>
            <a:r>
              <a:rPr lang="en-US" dirty="0"/>
              <a:t>Ajo ende ekzekutohet në kohën O(N2), por është rreth dy herë më e shpejtë se renditja me flluskë dhe disi më e shpejtë se renditja me zgjedhje në situata normale. </a:t>
            </a:r>
          </a:p>
          <a:p>
            <a:r>
              <a:rPr lang="en-US" dirty="0"/>
              <a:t>Nuk është as shumë komplekse, megjithëse është pak më e ndërlikuar se renditjet me flluskë dhe me zgjedhje.</a:t>
            </a:r>
          </a:p>
          <a:p>
            <a:r>
              <a:rPr lang="en-US" dirty="0"/>
              <a:t>Shpesh përdoret si faza përfundimtare e renditjeve më të sofistikuara, si </a:t>
            </a:r>
            <a:r>
              <a:rPr lang="en-US" dirty="0" err="1"/>
              <a:t>renditja e shpejtë</a:t>
            </a:r>
            <a:r>
              <a:rPr lang="en-US" dirty="0"/>
              <a:t>.</a:t>
            </a:r>
          </a:p>
        </p:txBody>
      </p:sp>
      <p:sp>
        <p:nvSpPr>
          <p:cNvPr id="3" name="Title 2"/>
          <p:cNvSpPr>
            <a:spLocks noGrp="1"/>
          </p:cNvSpPr>
          <p:nvPr>
            <p:ph type="title"/>
          </p:nvPr>
        </p:nvSpPr>
        <p:spPr/>
        <p:txBody>
          <a:bodyPr/>
          <a:lstStyle/>
          <a:p>
            <a:pPr algn="ctr"/>
            <a:r>
              <a:rPr lang="en-US" dirty="0"/>
              <a:t>Renditja me Futje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Për të filluar renditjen me futje, filloni me lojtarët e beisbollit të rreshtuar në rend të rastësishëm.</a:t>
            </a:r>
          </a:p>
          <a:p>
            <a:r>
              <a:rPr lang="en-US" dirty="0"/>
              <a:t>(Ata dëshironin të luanin një ndeshje, por qartësisht nuk ka kohë për këtë.)</a:t>
            </a:r>
          </a:p>
          <a:p>
            <a:r>
              <a:rPr lang="en-US" dirty="0"/>
              <a:t>Është më e lehtë të mendosh për renditjen me futje nëse fillojmë në mes të procesit, kur ekipi është gjysmë i renditur.</a:t>
            </a:r>
          </a:p>
        </p:txBody>
      </p:sp>
      <p:sp>
        <p:nvSpPr>
          <p:cNvPr id="3" name="Title 2"/>
          <p:cNvSpPr>
            <a:spLocks noGrp="1"/>
          </p:cNvSpPr>
          <p:nvPr>
            <p:ph type="title"/>
          </p:nvPr>
        </p:nvSpPr>
        <p:spPr/>
        <p:txBody>
          <a:bodyPr/>
          <a:lstStyle/>
          <a:p>
            <a:pPr algn="ctr"/>
            <a:r>
              <a:rPr lang="en-US" dirty="0"/>
              <a:t>Renditje e Pjesshme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382000" cy="5029200"/>
          </a:xfrm>
        </p:spPr>
        <p:txBody>
          <a:bodyPr>
            <a:normAutofit fontScale="92500" lnSpcReduction="10000"/>
          </a:bodyPr>
          <a:lstStyle/>
          <a:p>
            <a:r>
              <a:rPr lang="en-US" dirty="0"/>
              <a:t>Në këtë pikë ka një shënues imagjinar diku në mes të rreshtit.</a:t>
            </a:r>
          </a:p>
          <a:p>
            <a:r>
              <a:rPr lang="en-US" dirty="0"/>
              <a:t>(Ndoshta hodhe një bluzë të kuqe në tokë para një lojtari.) </a:t>
            </a:r>
          </a:p>
          <a:p>
            <a:r>
              <a:rPr lang="en-US" dirty="0"/>
              <a:t>Lojtarët në të majtë të këtij shënuesi janë </a:t>
            </a:r>
            <a:r>
              <a:rPr lang="en-US" i="1" dirty="0"/>
              <a:t>të renditur pjesërisht. </a:t>
            </a:r>
          </a:p>
          <a:p>
            <a:r>
              <a:rPr lang="en-US" i="1" dirty="0"/>
              <a:t>Kjo do të thotë se janë të renditur mes </a:t>
            </a:r>
            <a:r>
              <a:rPr lang="en-US" dirty="0"/>
              <a:t>tyre; secili është më i gjatë se personi në të majtën e tij ose të saj. </a:t>
            </a:r>
          </a:p>
          <a:p>
            <a:r>
              <a:rPr lang="en-US" dirty="0"/>
              <a:t>Megjithatë, lojtarët nuk janë domosdoshmërisht në pozicionet e tyre përfundimtare sepse mund të duhet ende të zhvendosen kur lojtarët e parenditur më parë futen midis tyre.</a:t>
            </a:r>
          </a:p>
        </p:txBody>
      </p:sp>
      <p:sp>
        <p:nvSpPr>
          <p:cNvPr id="3" name="Title 2"/>
          <p:cNvSpPr>
            <a:spLocks noGrp="1"/>
          </p:cNvSpPr>
          <p:nvPr>
            <p:ph type="title"/>
          </p:nvPr>
        </p:nvSpPr>
        <p:spPr/>
        <p:txBody>
          <a:bodyPr/>
          <a:lstStyle/>
          <a:p>
            <a:pPr algn="ctr"/>
            <a:r>
              <a:rPr lang="en-US" dirty="0"/>
              <a:t>Renditje e Pjesshme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Lojtari ku ndodhet shënuesi, të cilin do ta quajmë lojtari i “shënuar”, dhe të gjithë lojtarët në të djathtën e tij/saj, janë ende të parenditur.</a:t>
            </a:r>
          </a:p>
        </p:txBody>
      </p:sp>
      <p:sp>
        <p:nvSpPr>
          <p:cNvPr id="3" name="Title 2"/>
          <p:cNvSpPr>
            <a:spLocks noGrp="1"/>
          </p:cNvSpPr>
          <p:nvPr>
            <p:ph type="title"/>
          </p:nvPr>
        </p:nvSpPr>
        <p:spPr/>
        <p:txBody>
          <a:bodyPr/>
          <a:lstStyle/>
          <a:p>
            <a:pPr algn="ctr"/>
            <a:r>
              <a:rPr lang="en-US" dirty="0"/>
              <a:t>Lojtari i Shënuar</a:t>
            </a:r>
          </a:p>
        </p:txBody>
      </p:sp>
      <p:pic>
        <p:nvPicPr>
          <p:cNvPr id="1026" name="Picture 2"/>
          <p:cNvPicPr>
            <a:picLocks noChangeAspect="1" noChangeArrowheads="1"/>
          </p:cNvPicPr>
          <p:nvPr/>
        </p:nvPicPr>
        <p:blipFill>
          <a:blip r:embed="rId2"/>
          <a:srcRect/>
          <a:stretch>
            <a:fillRect/>
          </a:stretch>
        </p:blipFill>
        <p:spPr bwMode="auto">
          <a:xfrm>
            <a:off x="1" y="2819400"/>
            <a:ext cx="9069868" cy="4038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2401"/>
            <a:ext cx="8763000" cy="3505199"/>
          </a:xfrm>
        </p:spPr>
        <p:txBody>
          <a:bodyPr/>
          <a:lstStyle/>
          <a:p>
            <a:r>
              <a:rPr lang="en-US" dirty="0"/>
              <a:t>Ajo që do të bëjmë është të fusim lojtarin e shënuar në vendin e duhur në grupin e renditur (pjesërisht). </a:t>
            </a:r>
          </a:p>
          <a:p>
            <a:r>
              <a:rPr lang="en-US" dirty="0"/>
              <a:t>Megjithatë, për ta bërë këtë, do të duhet të zhvendosim disa lojtarë të renditur në të djathtë për të bërë vend. </a:t>
            </a:r>
          </a:p>
          <a:p>
            <a:r>
              <a:rPr lang="en-US" dirty="0"/>
              <a:t>Për të krijuar hapësirë për këtë zhvendosje, nxjerrim lojtarin e shënuar nga rreshti. (Në program ky element i të dhënave ruhet në një variabël të përkohshëm.)</a:t>
            </a:r>
          </a:p>
        </p:txBody>
      </p:sp>
      <p:pic>
        <p:nvPicPr>
          <p:cNvPr id="2050" name="Picture 2"/>
          <p:cNvPicPr>
            <a:picLocks noChangeAspect="1" noChangeArrowheads="1"/>
          </p:cNvPicPr>
          <p:nvPr/>
        </p:nvPicPr>
        <p:blipFill>
          <a:blip r:embed="rId2"/>
          <a:srcRect/>
          <a:stretch>
            <a:fillRect/>
          </a:stretch>
        </p:blipFill>
        <p:spPr bwMode="auto">
          <a:xfrm>
            <a:off x="0" y="3581400"/>
            <a:ext cx="9144000" cy="3276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4343399"/>
          </a:xfrm>
        </p:spPr>
        <p:txBody>
          <a:bodyPr>
            <a:normAutofit fontScale="85000" lnSpcReduction="20000"/>
          </a:bodyPr>
          <a:lstStyle/>
          <a:p>
            <a:r>
              <a:rPr lang="en-US" dirty="0"/>
              <a:t>Tani zhvendosim lojtarët e renditur për të bërë vend. Lojtari i renditur më i gjatë lëviz në vendin e lojtarit të shënuar, lojtari i ardhshëm më i gjatë në vendin e lojtarit më të gjatë, e kështu me radhë.</a:t>
            </a:r>
          </a:p>
          <a:p>
            <a:r>
              <a:rPr lang="en-US" dirty="0"/>
              <a:t>Kur ndalon ky proces zhvendosjeje? </a:t>
            </a:r>
          </a:p>
          <a:p>
            <a:r>
              <a:rPr lang="en-US" dirty="0"/>
              <a:t>Imagjinoni se ju dhe lojtari i shënuar jeni duke ecur nëpër rresht drejt të majtës. </a:t>
            </a:r>
          </a:p>
          <a:p>
            <a:r>
              <a:rPr lang="en-US" dirty="0"/>
              <a:t>Në çdo pozicion zhvendosni një lojtari tjetër në të djathtë, por krahasoni gjithashtu lojtarin e shënuar me lojtarin që do të zhvendoset.</a:t>
            </a:r>
          </a:p>
          <a:p>
            <a:r>
              <a:rPr lang="en-US" dirty="0"/>
              <a:t>Procesi i zhvendosjes ndalet kur të keni zhvendosur lojtarin e fundit që është më i gjatë se lojtari i shënuar. </a:t>
            </a:r>
          </a:p>
          <a:p>
            <a:r>
              <a:rPr lang="en-US" dirty="0"/>
              <a:t>Zhvendosja e fundit hap hapësirën ku lojtari i shënuar, kur futet, do të jetë në rend të renditur.</a:t>
            </a:r>
          </a:p>
        </p:txBody>
      </p:sp>
      <p:pic>
        <p:nvPicPr>
          <p:cNvPr id="5" name="Picture 2"/>
          <p:cNvPicPr>
            <a:picLocks noChangeAspect="1" noChangeArrowheads="1"/>
          </p:cNvPicPr>
          <p:nvPr/>
        </p:nvPicPr>
        <p:blipFill>
          <a:blip r:embed="rId2"/>
          <a:srcRect/>
          <a:stretch>
            <a:fillRect/>
          </a:stretch>
        </p:blipFill>
        <p:spPr bwMode="auto">
          <a:xfrm>
            <a:off x="0" y="4248150"/>
            <a:ext cx="9144000" cy="26098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additive="base">
                                        <p:cTn id="19"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additive="base">
                                        <p:cTn id="3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 calcmode="lin" valueType="num">
                                      <p:cBhvr additive="base">
                                        <p:cTn id="3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anim calcmode="lin" valueType="num">
                                      <p:cBhvr additive="base">
                                        <p:cTn id="4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Tani grupi i renditur pjesërisht është me një lojtari më i madh, dhe grupi i parenditur është me një lojtari më i vogël. </a:t>
            </a:r>
          </a:p>
          <a:p>
            <a:r>
              <a:rPr lang="en-US" dirty="0"/>
              <a:t>Bluza-shënues zhvendoset një hapësirë në të djathtë, kështu që është sërish para lojtarit të parenditur më të majtë. </a:t>
            </a:r>
          </a:p>
          <a:p>
            <a:r>
              <a:rPr lang="en-US" dirty="0"/>
              <a:t>Ky proces përsëritet derisa të gjithë lojtarët e parenditur të jenë futur (prandaj emri </a:t>
            </a:r>
            <a:r>
              <a:rPr lang="en-US" i="1" dirty="0"/>
              <a:t>renditja me futje) në vendin e duhur </a:t>
            </a:r>
            <a:r>
              <a:rPr lang="en-US" dirty="0"/>
              <a:t>në grupin e renditur pjesërisht.</a:t>
            </a:r>
          </a:p>
        </p:txBody>
      </p:sp>
      <p:sp>
        <p:nvSpPr>
          <p:cNvPr id="3" name="Title 2"/>
          <p:cNvSpPr>
            <a:spLocks noGrp="1"/>
          </p:cNvSpPr>
          <p:nvPr>
            <p:ph type="title"/>
          </p:nvPr>
        </p:nvSpPr>
        <p:spPr/>
        <p:txBody>
          <a:bodyPr/>
          <a:lstStyle/>
          <a:p>
            <a:pPr algn="ctr"/>
            <a:r>
              <a:rPr lang="en-US" dirty="0"/>
              <a:t>Insertion Sorting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562600"/>
          </a:xfrm>
        </p:spPr>
        <p:txBody>
          <a:bodyPr>
            <a:normAutofit fontScale="85000" lnSpcReduction="20000"/>
          </a:bodyPr>
          <a:lstStyle/>
          <a:p>
            <a:r>
              <a:rPr lang="en-US" dirty="0"/>
              <a:t>public void </a:t>
            </a:r>
            <a:r>
              <a:rPr lang="en-US" dirty="0" err="1"/>
              <a:t>insertionSort</a:t>
            </a:r>
            <a:r>
              <a:rPr lang="en-US" dirty="0"/>
              <a:t>()</a:t>
            </a:r>
          </a:p>
          <a:p>
            <a:r>
              <a:rPr lang="en-US" dirty="0"/>
              <a:t>{</a:t>
            </a:r>
          </a:p>
          <a:p>
            <a:r>
              <a:rPr lang="en-US" dirty="0" err="1"/>
              <a:t>int</a:t>
            </a:r>
            <a:r>
              <a:rPr lang="en-US" dirty="0"/>
              <a:t> in, out;</a:t>
            </a:r>
          </a:p>
          <a:p>
            <a:r>
              <a:rPr lang="en-US" dirty="0"/>
              <a:t>for(out=1; out&lt;</a:t>
            </a:r>
            <a:r>
              <a:rPr lang="en-US" dirty="0" err="1"/>
              <a:t>nElems</a:t>
            </a:r>
            <a:r>
              <a:rPr lang="en-US" dirty="0"/>
              <a:t>; out++) // out është vija ndarëse</a:t>
            </a:r>
          </a:p>
          <a:p>
            <a:r>
              <a:rPr lang="en-US" dirty="0"/>
              <a:t>{</a:t>
            </a:r>
          </a:p>
          <a:p>
            <a:r>
              <a:rPr lang="en-US" dirty="0"/>
              <a:t>long temp = a[out]; // hiq elementin e shënuar</a:t>
            </a:r>
          </a:p>
          <a:p>
            <a:r>
              <a:rPr lang="en-US" dirty="0"/>
              <a:t>in = out; // fillo zhvendosjet te out</a:t>
            </a:r>
          </a:p>
          <a:p>
            <a:r>
              <a:rPr lang="en-US" dirty="0"/>
              <a:t>while(in&gt;0 &amp;&amp; a[in-1] &gt;= temp) // derisa një të jetë më i vogël,</a:t>
            </a:r>
          </a:p>
          <a:p>
            <a:r>
              <a:rPr lang="en-US" dirty="0"/>
              <a:t>{</a:t>
            </a:r>
          </a:p>
          <a:p>
            <a:r>
              <a:rPr lang="en-US" dirty="0"/>
              <a:t>a[in] = a[in-1]; // zhvendos elementin djathtas</a:t>
            </a:r>
          </a:p>
          <a:p>
            <a:r>
              <a:rPr lang="en-US" dirty="0"/>
              <a:t>--in; // shko një pozicion majtas</a:t>
            </a:r>
          </a:p>
          <a:p>
            <a:r>
              <a:rPr lang="en-US" dirty="0"/>
              <a:t>}</a:t>
            </a:r>
          </a:p>
          <a:p>
            <a:r>
              <a:rPr lang="en-US" dirty="0"/>
              <a:t>a[in] = temp; // fut elementin e shënuar</a:t>
            </a:r>
          </a:p>
          <a:p>
            <a:r>
              <a:rPr lang="en-US" dirty="0"/>
              <a:t>} // fund for</a:t>
            </a:r>
          </a:p>
          <a:p>
            <a:r>
              <a:rPr lang="en-US" dirty="0"/>
              <a:t>} // fund </a:t>
            </a:r>
            <a:r>
              <a:rPr lang="en-US" dirty="0" err="1"/>
              <a:t>insertionSort</a:t>
            </a:r>
            <a:r>
              <a:rPr lang="en-US" dirty="0"/>
              <a:t>()</a:t>
            </a:r>
          </a:p>
        </p:txBody>
      </p:sp>
      <p:sp>
        <p:nvSpPr>
          <p:cNvPr id="3" name="Title 2"/>
          <p:cNvSpPr>
            <a:spLocks noGrp="1"/>
          </p:cNvSpPr>
          <p:nvPr>
            <p:ph type="title"/>
          </p:nvPr>
        </p:nvSpPr>
        <p:spPr>
          <a:xfrm>
            <a:off x="457200" y="-152400"/>
            <a:ext cx="8229600" cy="1143000"/>
          </a:xfrm>
        </p:spPr>
        <p:txBody>
          <a:bodyPr/>
          <a:lstStyle/>
          <a:p>
            <a:pPr algn="ctr"/>
            <a:r>
              <a:rPr lang="en-US" dirty="0"/>
              <a:t>Kodi Java për Renditjen me Futje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Në lakën e jashtme for, out fillon në 1 dhe lëviz djathtas. Shënon të dhënat e parenditura më të majta.</a:t>
            </a:r>
          </a:p>
          <a:p>
            <a:r>
              <a:rPr lang="en-US" dirty="0"/>
              <a:t>Në lakën e brendshme while, in fillon te out dhe lëviz majtas, derisa ose temp të jetë më i vogël se elementi i vargut aty, ose të mos mund të shkojë më majtas. </a:t>
            </a:r>
          </a:p>
          <a:p>
            <a:r>
              <a:rPr lang="en-US" dirty="0"/>
              <a:t>Çdo kalim nëpër lakën while zhvendos një element të renditur një hapësirë djathtas.</a:t>
            </a:r>
          </a:p>
        </p:txBody>
      </p:sp>
      <p:sp>
        <p:nvSpPr>
          <p:cNvPr id="3" name="Title 2"/>
          <p:cNvSpPr>
            <a:spLocks noGrp="1"/>
          </p:cNvSpPr>
          <p:nvPr>
            <p:ph type="title"/>
          </p:nvPr>
        </p:nvSpPr>
        <p:spPr/>
        <p:txBody>
          <a:bodyPr/>
          <a:lstStyle/>
          <a:p>
            <a:pPr algn="ctr"/>
            <a:r>
              <a:rPr lang="en-US" dirty="0"/>
              <a:t>Renditja me Futje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5181600"/>
          </a:xfrm>
        </p:spPr>
        <p:txBody>
          <a:bodyPr>
            <a:normAutofit fontScale="92500" lnSpcReduction="10000"/>
          </a:bodyPr>
          <a:lstStyle/>
          <a:p>
            <a:r>
              <a:rPr lang="en-US" dirty="0"/>
              <a:t>Sa krahasime dhe kopje kërkon ky algoritëm?</a:t>
            </a:r>
          </a:p>
          <a:p>
            <a:r>
              <a:rPr lang="en-US" dirty="0"/>
              <a:t>Në kalimin e parë, krahason maksimumi një element.</a:t>
            </a:r>
          </a:p>
          <a:p>
            <a:r>
              <a:rPr lang="en-US" dirty="0"/>
              <a:t>Në kalimin e dytë, janë maksimumi dy elementë, e kështu me radhë, deri në maksimumi N-1 krahasime në kalimin e fundit.</a:t>
            </a:r>
          </a:p>
          <a:p>
            <a:pPr algn="ctr">
              <a:buNone/>
            </a:pPr>
            <a:r>
              <a:rPr lang="pt-BR" dirty="0"/>
              <a:t>1 + 2 + 3 + ... + N-1 = N*(N-1)/2</a:t>
            </a:r>
          </a:p>
          <a:p>
            <a:r>
              <a:rPr lang="en-US" dirty="0"/>
              <a:t>Megjithatë, sepse në çdo kalim mesatarisht vetëm gjysma e numrit maksimal të elementëve krahasohen para se të gjendet pika e futjes, mund të pjesëtojmë me 2, gjë që jep</a:t>
            </a:r>
          </a:p>
          <a:p>
            <a:pPr algn="ctr">
              <a:buNone/>
            </a:pPr>
            <a:r>
              <a:rPr lang="en-US" dirty="0"/>
              <a:t>N*(N-1)/4</a:t>
            </a:r>
          </a:p>
        </p:txBody>
      </p:sp>
      <p:sp>
        <p:nvSpPr>
          <p:cNvPr id="3" name="Title 2"/>
          <p:cNvSpPr>
            <a:spLocks noGrp="1"/>
          </p:cNvSpPr>
          <p:nvPr>
            <p:ph type="title"/>
          </p:nvPr>
        </p:nvSpPr>
        <p:spPr>
          <a:xfrm>
            <a:off x="457200" y="0"/>
            <a:ext cx="8229600" cy="1143000"/>
          </a:xfrm>
        </p:spPr>
        <p:txBody>
          <a:bodyPr/>
          <a:lstStyle/>
          <a:p>
            <a:pPr algn="ctr"/>
            <a:r>
              <a:rPr lang="en-US" dirty="0"/>
              <a:t>Efikasiteti </a:t>
            </a:r>
          </a:p>
        </p:txBody>
      </p:sp>
      <p:sp>
        <p:nvSpPr>
          <p:cNvPr id="4" name="Rectangle 3"/>
          <p:cNvSpPr/>
          <p:nvPr/>
        </p:nvSpPr>
        <p:spPr>
          <a:xfrm>
            <a:off x="1600200" y="3657600"/>
            <a:ext cx="6019800" cy="457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810000" y="5562600"/>
            <a:ext cx="1828800" cy="4572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 calcmode="lin" valueType="num">
                                      <p:cBhvr additive="base">
                                        <p:cTn id="3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anim calcmode="lin" valueType="num">
                                      <p:cBhvr additive="base">
                                        <p:cTn id="4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ppt_x"/>
                                          </p:val>
                                        </p:tav>
                                        <p:tav tm="100000">
                                          <p:val>
                                            <p:strVal val="#ppt_x"/>
                                          </p:val>
                                        </p:tav>
                                      </p:tavLst>
                                    </p:anim>
                                    <p:anim calcmode="lin" valueType="num">
                                      <p:cBhvr additive="base">
                                        <p:cTn id="4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Numri i kopjeve është afërsisht i njëjtë me numrin e krahasimeve.</a:t>
            </a:r>
          </a:p>
          <a:p>
            <a:r>
              <a:rPr lang="en-US" dirty="0"/>
              <a:t>Megjithatë, një kopje nuk konsumon aq kohë sa një shkëmbim, kështu që për të dhëna të rastësishme ky algoritëm funksionon dy herë më shpejt se renditja me flluskë dhe më shpejt se renditja me zgjedhje.</a:t>
            </a:r>
          </a:p>
          <a:p>
            <a:r>
              <a:rPr lang="en-US" dirty="0"/>
              <a:t>Në çdo rast, si rutinet e tjera të renditjes në këtë kapitull, renditja me futje funksionon në kohën </a:t>
            </a:r>
            <a:r>
              <a:rPr lang="pt-BR" dirty="0"/>
              <a:t>O(N2) për të dhëna të rastësishme.</a:t>
            </a:r>
            <a:endParaRPr lang="en-US" dirty="0"/>
          </a:p>
        </p:txBody>
      </p:sp>
      <p:sp>
        <p:nvSpPr>
          <p:cNvPr id="3" name="Title 2"/>
          <p:cNvSpPr>
            <a:spLocks noGrp="1"/>
          </p:cNvSpPr>
          <p:nvPr>
            <p:ph type="title"/>
          </p:nvPr>
        </p:nvSpPr>
        <p:spPr/>
        <p:txBody>
          <a:bodyPr/>
          <a:lstStyle/>
          <a:p>
            <a:pPr algn="ctr"/>
            <a:r>
              <a:rPr lang="en-US" dirty="0"/>
              <a:t>Efikasiteti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fontScale="92500" lnSpcReduction="10000"/>
          </a:bodyPr>
          <a:lstStyle/>
          <a:p>
            <a:r>
              <a:rPr lang="en-US" dirty="0"/>
              <a:t>Për të dhëna që janë tashmë të renditura ose pothuajse të renditura, renditja me futje funksionon shumë më mirë.</a:t>
            </a:r>
          </a:p>
          <a:p>
            <a:r>
              <a:rPr lang="en-US" dirty="0"/>
              <a:t>Kur të dhënat janë në rend, kushti në lakën while nuk është kurrë i vërtetë, kështu që bëhet një deklaratë e thjeshtë në lakën e jashtme, e cila ekzekutohet N-1 herë. </a:t>
            </a:r>
          </a:p>
          <a:p>
            <a:r>
              <a:rPr lang="en-US" dirty="0"/>
              <a:t>Në këtë rast algoritmi funksionon në kohën O(N), gjë që e bën atë një mënyrë të thjeshtë dhe efikase për të renditur një skedar që është vetëm pak jashtë rendit.</a:t>
            </a:r>
          </a:p>
          <a:p>
            <a:r>
              <a:rPr lang="en-US" dirty="0"/>
              <a:t>Megjithatë, për të dhëna të rregulluara në rend të kundërt, çdo </a:t>
            </a:r>
            <a:r>
              <a:rPr lang="en-US"/>
              <a:t>krahasim dhe zhvendosje e mundshme </a:t>
            </a:r>
            <a:r>
              <a:rPr lang="en-US" dirty="0"/>
              <a:t>kryhet, kështu që renditja me futje funksionon jo më shpejt se renditja me flluskë.</a:t>
            </a:r>
          </a:p>
        </p:txBody>
      </p:sp>
      <p:sp>
        <p:nvSpPr>
          <p:cNvPr id="3" name="Title 2"/>
          <p:cNvSpPr>
            <a:spLocks noGrp="1"/>
          </p:cNvSpPr>
          <p:nvPr>
            <p:ph type="title"/>
          </p:nvPr>
        </p:nvSpPr>
        <p:spPr/>
        <p:txBody>
          <a:bodyPr/>
          <a:lstStyle/>
          <a:p>
            <a:pPr algn="ctr"/>
            <a:r>
              <a:rPr lang="en-US" dirty="0"/>
              <a:t>Rasti më i Mirë </a:t>
            </a:r>
            <a:r>
              <a:rPr lang="en-US" dirty="0" err="1"/>
              <a:t>vs</a:t>
            </a:r>
            <a:r>
              <a:rPr lang="en-US" dirty="0"/>
              <a:t> Rasti më i Keq</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116</TotalTime>
  <Words>1811</Words>
  <Application>Microsoft Office PowerPoint</Application>
  <PresentationFormat>On-screen Show (4:3)</PresentationFormat>
  <Paragraphs>125</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Lucida Sans Unicode</vt:lpstr>
      <vt:lpstr>Verdana</vt:lpstr>
      <vt:lpstr>Wingdings 2</vt:lpstr>
      <vt:lpstr>Wingdings 3</vt:lpstr>
      <vt:lpstr>Concourse</vt:lpstr>
      <vt:lpstr>Renditje e Thjeshtë</vt:lpstr>
      <vt:lpstr>Renditja me Zgjedhje</vt:lpstr>
      <vt:lpstr>Renditja me Zgjedhje</vt:lpstr>
      <vt:lpstr>Renditja me Zgjedhje</vt:lpstr>
      <vt:lpstr>Përshkrim i Detajuar </vt:lpstr>
      <vt:lpstr>Përshkrim i Detajuar </vt:lpstr>
      <vt:lpstr>Renditja me Zgjedhje</vt:lpstr>
      <vt:lpstr>Renditja me Zgjedhje</vt:lpstr>
      <vt:lpstr>Renditja me Zgjedhje </vt:lpstr>
      <vt:lpstr>Renditja me Zgjedhje</vt:lpstr>
      <vt:lpstr>Renditja me Zgjedhje</vt:lpstr>
      <vt:lpstr>Efikasiteti </vt:lpstr>
      <vt:lpstr>Renditja me Futje </vt:lpstr>
      <vt:lpstr>Renditje e Pjesshme</vt:lpstr>
      <vt:lpstr>Renditje e Pjesshme</vt:lpstr>
      <vt:lpstr>Lojtari i Shënuar</vt:lpstr>
      <vt:lpstr>PowerPoint Presentation</vt:lpstr>
      <vt:lpstr>PowerPoint Presentation</vt:lpstr>
      <vt:lpstr>Insertion Sorting</vt:lpstr>
      <vt:lpstr>Kodi Java për Renditjen me Futje</vt:lpstr>
      <vt:lpstr>Renditja me Futje</vt:lpstr>
      <vt:lpstr>Efikasiteti </vt:lpstr>
      <vt:lpstr>Efikasiteti </vt:lpstr>
      <vt:lpstr>Rasti më i Mirë vs Rasti më i Keq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Sorting</dc:title>
  <dc:creator>Marin</dc:creator>
  <cp:lastModifiedBy>Marin Aranitasi</cp:lastModifiedBy>
  <cp:revision>86</cp:revision>
  <dcterms:created xsi:type="dcterms:W3CDTF">2013-12-15T15:53:00Z</dcterms:created>
  <dcterms:modified xsi:type="dcterms:W3CDTF">2026-04-22T12:09:44Z</dcterms:modified>
</cp:coreProperties>
</file>